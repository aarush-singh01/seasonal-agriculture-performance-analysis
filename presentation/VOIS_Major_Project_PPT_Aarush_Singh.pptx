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39"/>
  </p:notesMasterIdLst>
  <p:handoutMasterIdLst>
    <p:handoutMasterId r:id="rId40"/>
  </p:handoutMasterIdLst>
  <p:sldIdLst>
    <p:sldId id="338" r:id="rId5"/>
    <p:sldId id="327" r:id="rId6"/>
    <p:sldId id="315" r:id="rId7"/>
    <p:sldId id="329" r:id="rId8"/>
    <p:sldId id="302" r:id="rId9"/>
    <p:sldId id="339" r:id="rId10"/>
    <p:sldId id="340" r:id="rId11"/>
    <p:sldId id="344" r:id="rId12"/>
    <p:sldId id="347" r:id="rId13"/>
    <p:sldId id="345" r:id="rId14"/>
    <p:sldId id="346" r:id="rId15"/>
    <p:sldId id="348" r:id="rId16"/>
    <p:sldId id="349" r:id="rId17"/>
    <p:sldId id="350" r:id="rId18"/>
    <p:sldId id="351" r:id="rId19"/>
    <p:sldId id="352" r:id="rId20"/>
    <p:sldId id="341" r:id="rId21"/>
    <p:sldId id="342" r:id="rId22"/>
    <p:sldId id="343" r:id="rId23"/>
    <p:sldId id="304" r:id="rId24"/>
    <p:sldId id="353" r:id="rId25"/>
    <p:sldId id="354" r:id="rId26"/>
    <p:sldId id="355" r:id="rId27"/>
    <p:sldId id="356" r:id="rId28"/>
    <p:sldId id="357" r:id="rId29"/>
    <p:sldId id="358" r:id="rId30"/>
    <p:sldId id="359" r:id="rId31"/>
    <p:sldId id="360" r:id="rId32"/>
    <p:sldId id="361" r:id="rId33"/>
    <p:sldId id="362" r:id="rId34"/>
    <p:sldId id="363" r:id="rId35"/>
    <p:sldId id="364" r:id="rId36"/>
    <p:sldId id="367" r:id="rId37"/>
    <p:sldId id="368"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95" d="100"/>
          <a:sy n="95" d="100"/>
        </p:scale>
        <p:origin x="110"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Aarush-Singh01/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9" name="Title 8">
            <a:extLst>
              <a:ext uri="{FF2B5EF4-FFF2-40B4-BE49-F238E27FC236}">
                <a16:creationId xmlns:a16="http://schemas.microsoft.com/office/drawing/2014/main" id="{188FF059-D6E6-78F0-08A9-DA9D78A373A1}"/>
              </a:ext>
            </a:extLst>
          </p:cNvPr>
          <p:cNvSpPr>
            <a:spLocks noGrp="1"/>
          </p:cNvSpPr>
          <p:nvPr>
            <p:ph type="title"/>
          </p:nvPr>
        </p:nvSpPr>
        <p:spPr>
          <a:xfrm>
            <a:off x="252397" y="2794001"/>
            <a:ext cx="8442425" cy="2122904"/>
          </a:xfrm>
        </p:spPr>
        <p:txBody>
          <a:bodyPr>
            <a:normAutofit fontScale="90000"/>
          </a:bodyPr>
          <a:lstStyle/>
          <a:p>
            <a:pPr>
              <a:lnSpc>
                <a:spcPct val="150000"/>
              </a:lnSpc>
            </a:pPr>
            <a:r>
              <a:rPr lang="en-US" sz="2400" b="1" dirty="0"/>
              <a:t>Project Title : Seasonal Agriculture Performance Analysis</a:t>
            </a:r>
            <a:br>
              <a:rPr lang="en-US" sz="2400" dirty="0"/>
            </a:br>
            <a:r>
              <a:rPr lang="en-US" sz="2400" b="1" dirty="0"/>
              <a:t>Student : Aarush Singh</a:t>
            </a:r>
            <a:br>
              <a:rPr lang="en-US" sz="2400" dirty="0"/>
            </a:br>
            <a:r>
              <a:rPr lang="en-US" sz="2400" b="1" dirty="0"/>
              <a:t>College : G H </a:t>
            </a:r>
            <a:r>
              <a:rPr lang="en-US" sz="2400" b="1" dirty="0" err="1"/>
              <a:t>Raisoni</a:t>
            </a:r>
            <a:r>
              <a:rPr lang="en-US" sz="2400" b="1" dirty="0"/>
              <a:t> International Skill Tech University</a:t>
            </a:r>
            <a:br>
              <a:rPr lang="en-US" sz="2400" dirty="0"/>
            </a:br>
            <a:r>
              <a:rPr lang="en-US" sz="2400" b="1" dirty="0"/>
              <a:t>AICTE STU ID : STU6736c7458b0c11731643205</a:t>
            </a:r>
            <a:endParaRPr lang="en-US" sz="24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62500" lnSpcReduction="20000"/>
          </a:bodyPr>
          <a:lstStyle/>
          <a:p>
            <a:r>
              <a:rPr lang="en-US" sz="2800" dirty="0"/>
              <a:t>Agricultural performance is influenced by seasonal variations in environmental conditions, farming practices, resource availability and market conditions. As a result, agricultural performance may differ from one season to another.</a:t>
            </a:r>
          </a:p>
          <a:p>
            <a:r>
              <a:rPr lang="en-US" sz="2800" dirty="0"/>
              <a:t>However, raw agricultural data does not clearly explain how agricultural performance changes across seasons or what patterns can be observed under different seasonal conditions.</a:t>
            </a:r>
          </a:p>
          <a:p>
            <a:r>
              <a:rPr lang="en-US" sz="2800" dirty="0"/>
              <a:t>Therefore, this project analyzes agricultural data to identify meaningful patterns, trends, relationships and variations in crop yield, production, profitability, resource utilization and agricultural risk.</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147052" y="770288"/>
            <a:ext cx="9710822" cy="5317423"/>
          </a:xfrm>
        </p:spPr>
        <p:txBody>
          <a:bodyPr>
            <a:noAutofit/>
          </a:bodyPr>
          <a:lstStyle/>
          <a:p>
            <a:pPr>
              <a:lnSpc>
                <a:spcPct val="150000"/>
              </a:lnSpc>
            </a:pPr>
            <a:r>
              <a:rPr lang="en-GB" sz="2000" dirty="0"/>
              <a:t>Project Description</a:t>
            </a:r>
            <a:br>
              <a:rPr lang="en-GB" sz="2000" dirty="0"/>
            </a:br>
            <a:r>
              <a:rPr lang="en-US" sz="2000" dirty="0"/>
              <a:t>This project performs an exploratory and statistical analysis of agricultural performance using a dataset containing 4,000 records and 28 variables.</a:t>
            </a:r>
            <a:br>
              <a:rPr lang="en-US" sz="2000" dirty="0"/>
            </a:br>
            <a:r>
              <a:rPr lang="en-US" sz="2000" dirty="0"/>
              <a:t>The analysis examines crops, seasons, locations, environmental conditions, agricultural inputs, irrigation methods, production, yield, revenue, cost, profit, water usage and disease/pest risk.</a:t>
            </a:r>
            <a:br>
              <a:rPr lang="en-US" sz="2000" dirty="0"/>
            </a:br>
            <a:r>
              <a:rPr lang="en-US" sz="2000" dirty="0"/>
              <a:t>Data cleaning, descriptive statistics, univariate, bivariate and multivariate analysis, outlier detection, correlation analysis and seasonal comparisons are performed to identify important patterns.</a:t>
            </a:r>
            <a:br>
              <a:rPr lang="en-US" sz="2000" dirty="0"/>
            </a:br>
            <a:r>
              <a:rPr lang="en-US" sz="2000" dirty="0"/>
              <a:t>The project also includes student-designed analyses to evaluate crop performance, irrigation efficiency, profitability and seasonal risk.</a:t>
            </a:r>
            <a:br>
              <a:rPr lang="en-US" sz="2000" dirty="0"/>
            </a:br>
            <a:endParaRPr lang="en-IN" sz="2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326331"/>
            <a:ext cx="7904481" cy="3990023"/>
          </a:xfrm>
        </p:spPr>
        <p:txBody>
          <a:bodyPr>
            <a:normAutofit fontScale="77500" lnSpcReduction="20000"/>
          </a:bodyPr>
          <a:lstStyle/>
          <a:p>
            <a:pPr lvl="0"/>
            <a:r>
              <a:rPr lang="en-US" sz="3600" dirty="0"/>
              <a:t>Farmers </a:t>
            </a:r>
          </a:p>
          <a:p>
            <a:pPr lvl="0"/>
            <a:r>
              <a:rPr lang="en-US" sz="3600" dirty="0"/>
              <a:t>Agricultural planners </a:t>
            </a:r>
          </a:p>
          <a:p>
            <a:pPr lvl="0"/>
            <a:r>
              <a:rPr lang="en-US" sz="3600" dirty="0"/>
              <a:t>Agricultural researchers </a:t>
            </a:r>
          </a:p>
          <a:p>
            <a:pPr lvl="0"/>
            <a:r>
              <a:rPr lang="en-US" sz="3600" dirty="0"/>
              <a:t>Government agricultural departments </a:t>
            </a:r>
          </a:p>
          <a:p>
            <a:pPr lvl="0"/>
            <a:r>
              <a:rPr lang="en-US" sz="3600" dirty="0"/>
              <a:t>Agribusiness organizations </a:t>
            </a:r>
          </a:p>
          <a:p>
            <a:pPr lvl="0"/>
            <a:r>
              <a:rPr lang="en-US" sz="3600" dirty="0"/>
              <a:t>Data analysts </a:t>
            </a:r>
          </a:p>
          <a:p>
            <a:pPr lvl="0"/>
            <a:r>
              <a:rPr lang="en-US" sz="3600" dirty="0"/>
              <a:t>Agricultural consultants </a:t>
            </a:r>
          </a:p>
          <a:p>
            <a:pPr lvl="0"/>
            <a:r>
              <a:rPr lang="en-US" sz="3600" dirty="0"/>
              <a:t>Policy makers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369094"/>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Box 2">
            <a:extLst>
              <a:ext uri="{FF2B5EF4-FFF2-40B4-BE49-F238E27FC236}">
                <a16:creationId xmlns:a16="http://schemas.microsoft.com/office/drawing/2014/main" id="{97C2E222-6B24-C1E0-A655-C8F0342FD6E4}"/>
              </a:ext>
            </a:extLst>
          </p:cNvPr>
          <p:cNvSpPr txBox="1"/>
          <p:nvPr/>
        </p:nvSpPr>
        <p:spPr>
          <a:xfrm>
            <a:off x="721359" y="5478379"/>
            <a:ext cx="6874578" cy="646331"/>
          </a:xfrm>
          <a:prstGeom prst="rect">
            <a:avLst/>
          </a:prstGeom>
          <a:noFill/>
        </p:spPr>
        <p:txBody>
          <a:bodyPr wrap="square" rtlCol="0">
            <a:spAutoFit/>
          </a:bodyPr>
          <a:lstStyle/>
          <a:p>
            <a:r>
              <a:rPr lang="en-US" b="1" dirty="0"/>
              <a:t>Purpose:</a:t>
            </a:r>
            <a:r>
              <a:rPr lang="en-US" dirty="0"/>
              <a:t> To support data-driven agricultural planning and decision-making.</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1432560"/>
            <a:ext cx="2208463" cy="5243448"/>
          </a:xfrm>
        </p:spPr>
        <p:txBody>
          <a:bodyPr>
            <a:noAutofit/>
          </a:bodyPr>
          <a:lstStyle/>
          <a:p>
            <a:r>
              <a:rPr lang="en-US" sz="900" b="1" dirty="0">
                <a:latin typeface="Arial Black" panose="020B0A04020102020204" pitchFamily="34" charset="0"/>
              </a:rPr>
              <a:t>Programming</a:t>
            </a:r>
          </a:p>
          <a:p>
            <a:pPr lvl="0"/>
            <a:r>
              <a:rPr lang="en-US" sz="900" b="1" dirty="0">
                <a:latin typeface="Arial Black" panose="020B0A04020102020204" pitchFamily="34" charset="0"/>
              </a:rPr>
              <a:t>Python </a:t>
            </a:r>
          </a:p>
          <a:p>
            <a:r>
              <a:rPr lang="en-US" sz="900" b="1" dirty="0">
                <a:latin typeface="Arial Black" panose="020B0A04020102020204" pitchFamily="34" charset="0"/>
              </a:rPr>
              <a:t>Libraries</a:t>
            </a:r>
          </a:p>
          <a:p>
            <a:pPr lvl="0"/>
            <a:r>
              <a:rPr lang="en-US" sz="900" b="1" dirty="0">
                <a:latin typeface="Arial Black" panose="020B0A04020102020204" pitchFamily="34" charset="0"/>
              </a:rPr>
              <a:t>Pandas </a:t>
            </a:r>
          </a:p>
          <a:p>
            <a:pPr lvl="0"/>
            <a:r>
              <a:rPr lang="en-US" sz="900" b="1" dirty="0">
                <a:latin typeface="Arial Black" panose="020B0A04020102020204" pitchFamily="34" charset="0"/>
              </a:rPr>
              <a:t>NumPy </a:t>
            </a:r>
          </a:p>
          <a:p>
            <a:pPr lvl="0"/>
            <a:r>
              <a:rPr lang="en-US" sz="900" b="1" dirty="0">
                <a:latin typeface="Arial Black" panose="020B0A04020102020204" pitchFamily="34" charset="0"/>
              </a:rPr>
              <a:t>Matplotlib </a:t>
            </a:r>
          </a:p>
          <a:p>
            <a:pPr lvl="0"/>
            <a:r>
              <a:rPr lang="en-US" sz="900" b="1" dirty="0">
                <a:latin typeface="Arial Black" panose="020B0A04020102020204" pitchFamily="34" charset="0"/>
              </a:rPr>
              <a:t>Seaborn </a:t>
            </a:r>
          </a:p>
          <a:p>
            <a:r>
              <a:rPr lang="en-US" sz="900" b="1" dirty="0">
                <a:latin typeface="Arial Black" panose="020B0A04020102020204" pitchFamily="34" charset="0"/>
              </a:rPr>
              <a:t>Platform</a:t>
            </a:r>
          </a:p>
          <a:p>
            <a:pPr lvl="0"/>
            <a:r>
              <a:rPr lang="en-US" sz="900" b="1" dirty="0">
                <a:latin typeface="Arial Black" panose="020B0A04020102020204" pitchFamily="34" charset="0"/>
              </a:rPr>
              <a:t>Google </a:t>
            </a:r>
            <a:r>
              <a:rPr lang="en-US" sz="900" b="1" dirty="0" err="1">
                <a:latin typeface="Arial Black" panose="020B0A04020102020204" pitchFamily="34" charset="0"/>
              </a:rPr>
              <a:t>Colab</a:t>
            </a:r>
            <a:r>
              <a:rPr lang="en-US" sz="900" b="1" dirty="0">
                <a:latin typeface="Arial Black" panose="020B0A04020102020204" pitchFamily="34" charset="0"/>
              </a:rPr>
              <a:t> </a:t>
            </a:r>
          </a:p>
          <a:p>
            <a:r>
              <a:rPr lang="en-US" sz="900" b="1" dirty="0">
                <a:latin typeface="Arial Black" panose="020B0A04020102020204" pitchFamily="34" charset="0"/>
              </a:rPr>
              <a:t>Data Analysis</a:t>
            </a:r>
          </a:p>
          <a:p>
            <a:pPr lvl="0"/>
            <a:r>
              <a:rPr lang="en-US" sz="900" b="1" dirty="0">
                <a:latin typeface="Arial Black" panose="020B0A04020102020204" pitchFamily="34" charset="0"/>
              </a:rPr>
              <a:t>Exploratory Data Analysis </a:t>
            </a:r>
          </a:p>
          <a:p>
            <a:pPr lvl="0"/>
            <a:r>
              <a:rPr lang="en-US" sz="900" b="1" dirty="0">
                <a:latin typeface="Arial Black" panose="020B0A04020102020204" pitchFamily="34" charset="0"/>
              </a:rPr>
              <a:t>Statistical Analysis </a:t>
            </a:r>
          </a:p>
          <a:p>
            <a:pPr lvl="0"/>
            <a:r>
              <a:rPr lang="en-US" sz="900" b="1" dirty="0">
                <a:latin typeface="Arial Black" panose="020B0A04020102020204" pitchFamily="34" charset="0"/>
              </a:rPr>
              <a:t>Correlation Analysis </a:t>
            </a:r>
          </a:p>
          <a:p>
            <a:pPr lvl="0"/>
            <a:r>
              <a:rPr lang="en-US" sz="900" b="1" dirty="0">
                <a:latin typeface="Arial Black" panose="020B0A04020102020204" pitchFamily="34" charset="0"/>
              </a:rPr>
              <a:t>Data Visualization </a:t>
            </a:r>
          </a:p>
          <a:p>
            <a:r>
              <a:rPr lang="en-US" sz="900" b="1" dirty="0">
                <a:latin typeface="Arial Black" panose="020B0A04020102020204" pitchFamily="34" charset="0"/>
              </a:rPr>
              <a:t>Version Control</a:t>
            </a:r>
          </a:p>
          <a:p>
            <a:pPr lvl="0"/>
            <a:r>
              <a:rPr lang="en-US" sz="900" b="1" dirty="0">
                <a:latin typeface="Arial Black" panose="020B0A04020102020204" pitchFamily="34" charset="0"/>
              </a:rPr>
              <a:t>GitHub</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7">
                                            <p:txEl>
                                              <p:pRg st="12" end="12"/>
                                            </p:txEl>
                                          </p:spTgt>
                                        </p:tgtEl>
                                        <p:attrNameLst>
                                          <p:attrName>style.visibility</p:attrName>
                                        </p:attrNameLst>
                                      </p:cBhvr>
                                      <p:to>
                                        <p:strVal val="visible"/>
                                      </p:to>
                                    </p:set>
                                    <p:animEffect transition="in" filter="fade">
                                      <p:cBhvr>
                                        <p:cTn id="98" dur="1000"/>
                                        <p:tgtEl>
                                          <p:spTgt spid="7">
                                            <p:txEl>
                                              <p:pRg st="12" end="12"/>
                                            </p:txEl>
                                          </p:spTgt>
                                        </p:tgtEl>
                                      </p:cBhvr>
                                    </p:animEffect>
                                    <p:anim calcmode="lin" valueType="num">
                                      <p:cBhvr>
                                        <p:cTn id="99"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7">
                                            <p:txEl>
                                              <p:pRg st="13" end="13"/>
                                            </p:txEl>
                                          </p:spTgt>
                                        </p:tgtEl>
                                        <p:attrNameLst>
                                          <p:attrName>style.visibility</p:attrName>
                                        </p:attrNameLst>
                                      </p:cBhvr>
                                      <p:to>
                                        <p:strVal val="visible"/>
                                      </p:to>
                                    </p:set>
                                    <p:animEffect transition="in" filter="fade">
                                      <p:cBhvr>
                                        <p:cTn id="105" dur="1000"/>
                                        <p:tgtEl>
                                          <p:spTgt spid="7">
                                            <p:txEl>
                                              <p:pRg st="13" end="13"/>
                                            </p:txEl>
                                          </p:spTgt>
                                        </p:tgtEl>
                                      </p:cBhvr>
                                    </p:animEffect>
                                    <p:anim calcmode="lin" valueType="num">
                                      <p:cBhvr>
                                        <p:cTn id="106"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7">
                                            <p:txEl>
                                              <p:pRg st="14" end="14"/>
                                            </p:txEl>
                                          </p:spTgt>
                                        </p:tgtEl>
                                        <p:attrNameLst>
                                          <p:attrName>style.visibility</p:attrName>
                                        </p:attrNameLst>
                                      </p:cBhvr>
                                      <p:to>
                                        <p:strVal val="visible"/>
                                      </p:to>
                                    </p:set>
                                    <p:animEffect transition="in" filter="fade">
                                      <p:cBhvr>
                                        <p:cTn id="112" dur="1000"/>
                                        <p:tgtEl>
                                          <p:spTgt spid="7">
                                            <p:txEl>
                                              <p:pRg st="14" end="14"/>
                                            </p:txEl>
                                          </p:spTgt>
                                        </p:tgtEl>
                                      </p:cBhvr>
                                    </p:animEffect>
                                    <p:anim calcmode="lin" valueType="num">
                                      <p:cBhvr>
                                        <p:cTn id="113"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114" dur="1000" fill="hold"/>
                                        <p:tgtEl>
                                          <p:spTgt spid="7">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7">
                                            <p:txEl>
                                              <p:pRg st="15" end="15"/>
                                            </p:txEl>
                                          </p:spTgt>
                                        </p:tgtEl>
                                        <p:attrNameLst>
                                          <p:attrName>style.visibility</p:attrName>
                                        </p:attrNameLst>
                                      </p:cBhvr>
                                      <p:to>
                                        <p:strVal val="visible"/>
                                      </p:to>
                                    </p:set>
                                    <p:animEffect transition="in" filter="fade">
                                      <p:cBhvr>
                                        <p:cTn id="119" dur="1000"/>
                                        <p:tgtEl>
                                          <p:spTgt spid="7">
                                            <p:txEl>
                                              <p:pRg st="15" end="15"/>
                                            </p:txEl>
                                          </p:spTgt>
                                        </p:tgtEl>
                                      </p:cBhvr>
                                    </p:animEffect>
                                    <p:anim calcmode="lin" valueType="num">
                                      <p:cBhvr>
                                        <p:cTn id="120" dur="1000" fill="hold"/>
                                        <p:tgtEl>
                                          <p:spTgt spid="7">
                                            <p:txEl>
                                              <p:pRg st="15" end="15"/>
                                            </p:txEl>
                                          </p:spTgt>
                                        </p:tgtEl>
                                        <p:attrNameLst>
                                          <p:attrName>ppt_x</p:attrName>
                                        </p:attrNameLst>
                                      </p:cBhvr>
                                      <p:tavLst>
                                        <p:tav tm="0">
                                          <p:val>
                                            <p:strVal val="#ppt_x"/>
                                          </p:val>
                                        </p:tav>
                                        <p:tav tm="100000">
                                          <p:val>
                                            <p:strVal val="#ppt_x"/>
                                          </p:val>
                                        </p:tav>
                                      </p:tavLst>
                                    </p:anim>
                                    <p:anim calcmode="lin" valueType="num">
                                      <p:cBhvr>
                                        <p:cTn id="121" dur="1000" fill="hold"/>
                                        <p:tgtEl>
                                          <p:spTgt spid="7">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0"/>
            <a:ext cx="4024712" cy="4307259"/>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2400" b="1" dirty="0"/>
              <a:t>Dataset Overview</a:t>
            </a:r>
            <a:endParaRPr lang="en-US" sz="2400" dirty="0"/>
          </a:p>
          <a:p>
            <a:pPr lvl="0" algn="l"/>
            <a:r>
              <a:rPr lang="en-US" sz="2400" dirty="0"/>
              <a:t>Records: </a:t>
            </a:r>
            <a:r>
              <a:rPr lang="en-US" sz="2400" b="1" dirty="0"/>
              <a:t>4,000</a:t>
            </a:r>
            <a:r>
              <a:rPr lang="en-US" sz="2400" dirty="0"/>
              <a:t> </a:t>
            </a:r>
          </a:p>
          <a:p>
            <a:pPr lvl="0" algn="l"/>
            <a:r>
              <a:rPr lang="en-US" sz="2400" dirty="0"/>
              <a:t>Variables: </a:t>
            </a:r>
            <a:r>
              <a:rPr lang="en-US" sz="2400" b="1" dirty="0"/>
              <a:t>28</a:t>
            </a:r>
            <a:r>
              <a:rPr lang="en-US" sz="2400" dirty="0"/>
              <a:t> </a:t>
            </a:r>
          </a:p>
          <a:p>
            <a:pPr lvl="0" algn="l"/>
            <a:r>
              <a:rPr lang="en-US" sz="2400" dirty="0"/>
              <a:t>Crops: </a:t>
            </a:r>
            <a:r>
              <a:rPr lang="en-US" sz="2400" b="1" dirty="0"/>
              <a:t>8</a:t>
            </a:r>
            <a:r>
              <a:rPr lang="en-US" sz="2400" dirty="0"/>
              <a:t> </a:t>
            </a:r>
          </a:p>
          <a:p>
            <a:pPr lvl="0" algn="l"/>
            <a:r>
              <a:rPr lang="en-US" sz="2400" dirty="0"/>
              <a:t>Seasons: </a:t>
            </a:r>
            <a:r>
              <a:rPr lang="en-US" sz="2400" b="1" dirty="0"/>
              <a:t>3</a:t>
            </a:r>
            <a:r>
              <a:rPr lang="en-US" sz="2400" dirty="0"/>
              <a:t> </a:t>
            </a:r>
          </a:p>
          <a:p>
            <a:pPr lvl="0" algn="l"/>
            <a:r>
              <a:rPr lang="en-US" sz="2400" dirty="0"/>
              <a:t>States: </a:t>
            </a:r>
            <a:r>
              <a:rPr lang="en-US" sz="2400" b="1" dirty="0"/>
              <a:t>8</a:t>
            </a:r>
            <a:r>
              <a:rPr lang="en-US" sz="2400" dirty="0"/>
              <a:t> </a:t>
            </a:r>
          </a:p>
          <a:p>
            <a:pPr lvl="0" algn="l"/>
            <a:r>
              <a:rPr lang="en-US" sz="2400" dirty="0"/>
              <a:t>Districts: </a:t>
            </a:r>
            <a:r>
              <a:rPr lang="en-US" sz="2400" b="1" dirty="0"/>
              <a:t>10</a:t>
            </a:r>
            <a:r>
              <a:rPr lang="en-US" sz="2400" dirty="0"/>
              <a:t> </a:t>
            </a:r>
          </a:p>
          <a:p>
            <a:pPr lvl="0" algn="l"/>
            <a:r>
              <a:rPr lang="en-US" sz="2400" dirty="0"/>
              <a:t>Irrigation Methods: </a:t>
            </a:r>
            <a:r>
              <a:rPr lang="en-US" sz="2400" b="1" dirty="0"/>
              <a:t>4</a:t>
            </a:r>
            <a:r>
              <a:rPr lang="en-US" sz="2400" dirty="0"/>
              <a:t> </a:t>
            </a:r>
          </a:p>
          <a:p>
            <a:pPr lvl="0" algn="l"/>
            <a:r>
              <a:rPr lang="en-US" sz="2400" dirty="0"/>
              <a:t>Duplicate Records: </a:t>
            </a:r>
            <a:r>
              <a:rPr lang="en-US" sz="2400" b="1" dirty="0"/>
              <a:t>0</a:t>
            </a:r>
            <a:endParaRPr lang="en-US" sz="24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4FA809B-B137-A90A-7785-5CE5D34BE1CB}"/>
              </a:ext>
            </a:extLst>
          </p:cNvPr>
          <p:cNvPicPr>
            <a:picLocks noChangeAspect="1"/>
          </p:cNvPicPr>
          <p:nvPr/>
        </p:nvPicPr>
        <p:blipFill>
          <a:blip r:embed="rId3"/>
          <a:stretch>
            <a:fillRect/>
          </a:stretch>
        </p:blipFill>
        <p:spPr>
          <a:xfrm>
            <a:off x="3112169" y="2471372"/>
            <a:ext cx="8290553" cy="165144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122504" y="105894"/>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178399" y="2252716"/>
            <a:ext cx="4430583" cy="2185802"/>
          </a:xfrm>
        </p:spPr>
        <p:txBody>
          <a:bodyPr>
            <a:noAutofit/>
          </a:bodyPr>
          <a:lstStyle/>
          <a:p>
            <a:pPr lvl="0"/>
            <a:r>
              <a:rPr lang="en-US" sz="1600" dirty="0"/>
              <a:t>Rainfall missing values: </a:t>
            </a:r>
            <a:r>
              <a:rPr lang="en-US" sz="1600" b="1" dirty="0"/>
              <a:t>48</a:t>
            </a:r>
            <a:r>
              <a:rPr lang="en-US" sz="1600" dirty="0"/>
              <a:t> </a:t>
            </a:r>
          </a:p>
          <a:p>
            <a:pPr lvl="0"/>
            <a:r>
              <a:rPr lang="en-US" sz="1600" dirty="0"/>
              <a:t>Soil moisture missing values: </a:t>
            </a:r>
            <a:r>
              <a:rPr lang="en-US" sz="1600" b="1" dirty="0"/>
              <a:t>40</a:t>
            </a:r>
            <a:r>
              <a:rPr lang="en-US" sz="1600" dirty="0"/>
              <a:t> </a:t>
            </a:r>
          </a:p>
          <a:p>
            <a:pPr lvl="0"/>
            <a:r>
              <a:rPr lang="en-US" sz="1600" dirty="0"/>
              <a:t>Yield missing values: </a:t>
            </a:r>
            <a:r>
              <a:rPr lang="en-US" sz="1600" b="1" dirty="0"/>
              <a:t>32</a:t>
            </a:r>
            <a:r>
              <a:rPr lang="en-US" sz="1600" dirty="0"/>
              <a:t> </a:t>
            </a:r>
          </a:p>
          <a:p>
            <a:pPr lvl="0"/>
            <a:r>
              <a:rPr lang="en-US" sz="1600" dirty="0"/>
              <a:t>Missing values handled using </a:t>
            </a:r>
            <a:r>
              <a:rPr lang="en-US" sz="1600" b="1" dirty="0"/>
              <a:t>median imputation</a:t>
            </a:r>
            <a:r>
              <a:rPr lang="en-US" sz="1600" dirty="0"/>
              <a:t> </a:t>
            </a:r>
          </a:p>
          <a:p>
            <a:pPr lvl="0"/>
            <a:r>
              <a:rPr lang="en-US" sz="1600" dirty="0"/>
              <a:t>Duplicate records: </a:t>
            </a:r>
            <a:r>
              <a:rPr lang="en-US" sz="1600" b="1" dirty="0"/>
              <a:t>0</a:t>
            </a:r>
            <a:endParaRPr lang="en-US" sz="1600" dirty="0"/>
          </a:p>
        </p:txBody>
      </p:sp>
      <p:pic>
        <p:nvPicPr>
          <p:cNvPr id="3" name="Picture 2">
            <a:extLst>
              <a:ext uri="{FF2B5EF4-FFF2-40B4-BE49-F238E27FC236}">
                <a16:creationId xmlns:a16="http://schemas.microsoft.com/office/drawing/2014/main" id="{310D64DB-F66F-4229-AB08-B7AA5E082434}"/>
              </a:ext>
            </a:extLst>
          </p:cNvPr>
          <p:cNvPicPr>
            <a:picLocks noChangeAspect="1"/>
          </p:cNvPicPr>
          <p:nvPr/>
        </p:nvPicPr>
        <p:blipFill>
          <a:blip r:embed="rId3"/>
          <a:stretch>
            <a:fillRect/>
          </a:stretch>
        </p:blipFill>
        <p:spPr>
          <a:xfrm>
            <a:off x="267150" y="1608410"/>
            <a:ext cx="5828850" cy="371840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983391" y="5144639"/>
            <a:ext cx="7759556" cy="606456"/>
          </a:xfrm>
        </p:spPr>
        <p:txBody>
          <a:bodyPr>
            <a:noAutofit/>
          </a:bodyPr>
          <a:lstStyle/>
          <a:p>
            <a:pPr marL="0" indent="0">
              <a:buNone/>
            </a:pPr>
            <a:r>
              <a:rPr lang="en-US" sz="1800" dirty="0"/>
              <a:t>The visualizations show the distribution of agricultural records across crops and seasons.</a:t>
            </a:r>
            <a:endParaRPr lang="en-IN" sz="1800" dirty="0"/>
          </a:p>
        </p:txBody>
      </p:sp>
      <p:pic>
        <p:nvPicPr>
          <p:cNvPr id="12" name="Picture 11">
            <a:extLst>
              <a:ext uri="{FF2B5EF4-FFF2-40B4-BE49-F238E27FC236}">
                <a16:creationId xmlns:a16="http://schemas.microsoft.com/office/drawing/2014/main" id="{DEB259FA-1992-BB66-F1EA-ABAE6D2C91D0}"/>
              </a:ext>
            </a:extLst>
          </p:cNvPr>
          <p:cNvPicPr>
            <a:picLocks noChangeAspect="1"/>
          </p:cNvPicPr>
          <p:nvPr/>
        </p:nvPicPr>
        <p:blipFill>
          <a:blip r:embed="rId3"/>
          <a:stretch>
            <a:fillRect/>
          </a:stretch>
        </p:blipFill>
        <p:spPr>
          <a:xfrm>
            <a:off x="439474" y="1201586"/>
            <a:ext cx="4759215" cy="3591351"/>
          </a:xfrm>
          <a:prstGeom prst="rect">
            <a:avLst/>
          </a:prstGeom>
        </p:spPr>
      </p:pic>
      <p:pic>
        <p:nvPicPr>
          <p:cNvPr id="14" name="Picture 13">
            <a:extLst>
              <a:ext uri="{FF2B5EF4-FFF2-40B4-BE49-F238E27FC236}">
                <a16:creationId xmlns:a16="http://schemas.microsoft.com/office/drawing/2014/main" id="{A8D2DD33-AF20-B055-5263-6D5DC468A2C7}"/>
              </a:ext>
            </a:extLst>
          </p:cNvPr>
          <p:cNvPicPr>
            <a:picLocks noChangeAspect="1"/>
          </p:cNvPicPr>
          <p:nvPr/>
        </p:nvPicPr>
        <p:blipFill>
          <a:blip r:embed="rId4"/>
          <a:stretch>
            <a:fillRect/>
          </a:stretch>
        </p:blipFill>
        <p:spPr>
          <a:xfrm>
            <a:off x="5464322" y="1201586"/>
            <a:ext cx="4464394" cy="335705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18CB6-AA26-1C76-6D24-EF72EC8D8E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F3629A-E397-2043-596A-C0EF7FF6F34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AED4562-A18D-5FFE-7207-A48894A4EB5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40E1F88-5D09-3923-B62F-18CCD7B58CE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CFF229F-DE3C-61B0-64AA-B15096CCD4D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AA68DF3-A60D-6E18-66BC-D1D8DA1180E1}"/>
              </a:ext>
            </a:extLst>
          </p:cNvPr>
          <p:cNvSpPr>
            <a:spLocks noGrp="1"/>
          </p:cNvSpPr>
          <p:nvPr>
            <p:ph type="body" sz="quarter" idx="12"/>
          </p:nvPr>
        </p:nvSpPr>
        <p:spPr>
          <a:xfrm>
            <a:off x="675957" y="5254537"/>
            <a:ext cx="7720295" cy="477520"/>
          </a:xfrm>
        </p:spPr>
        <p:txBody>
          <a:bodyPr>
            <a:noAutofit/>
          </a:bodyPr>
          <a:lstStyle/>
          <a:p>
            <a:pPr marL="0" indent="0">
              <a:buNone/>
            </a:pPr>
            <a:r>
              <a:rPr lang="en-US" sz="1400" b="1" dirty="0"/>
              <a:t>Seasonal comparison reveals meaningful differences in agricultural performance, with Kharif showing the highest average yield in the analyzed dataset.</a:t>
            </a:r>
            <a:endParaRPr lang="en-IN" sz="1400" b="1" dirty="0"/>
          </a:p>
        </p:txBody>
      </p:sp>
      <p:pic>
        <p:nvPicPr>
          <p:cNvPr id="3" name="Picture 2">
            <a:extLst>
              <a:ext uri="{FF2B5EF4-FFF2-40B4-BE49-F238E27FC236}">
                <a16:creationId xmlns:a16="http://schemas.microsoft.com/office/drawing/2014/main" id="{470BDC34-2029-E41D-06EF-A7180CF9C6E8}"/>
              </a:ext>
            </a:extLst>
          </p:cNvPr>
          <p:cNvPicPr>
            <a:picLocks noChangeAspect="1"/>
          </p:cNvPicPr>
          <p:nvPr/>
        </p:nvPicPr>
        <p:blipFill>
          <a:blip r:embed="rId3"/>
          <a:stretch>
            <a:fillRect/>
          </a:stretch>
        </p:blipFill>
        <p:spPr>
          <a:xfrm>
            <a:off x="393173" y="1487660"/>
            <a:ext cx="4574094" cy="3597687"/>
          </a:xfrm>
          <a:prstGeom prst="rect">
            <a:avLst/>
          </a:prstGeom>
        </p:spPr>
      </p:pic>
      <p:pic>
        <p:nvPicPr>
          <p:cNvPr id="9" name="Picture 8">
            <a:extLst>
              <a:ext uri="{FF2B5EF4-FFF2-40B4-BE49-F238E27FC236}">
                <a16:creationId xmlns:a16="http://schemas.microsoft.com/office/drawing/2014/main" id="{47F4885F-7662-34E7-126B-5384C6250DB9}"/>
              </a:ext>
            </a:extLst>
          </p:cNvPr>
          <p:cNvPicPr>
            <a:picLocks noChangeAspect="1"/>
          </p:cNvPicPr>
          <p:nvPr/>
        </p:nvPicPr>
        <p:blipFill>
          <a:blip r:embed="rId4"/>
          <a:stretch>
            <a:fillRect/>
          </a:stretch>
        </p:blipFill>
        <p:spPr>
          <a:xfrm>
            <a:off x="5220096" y="1567869"/>
            <a:ext cx="4736109" cy="3437267"/>
          </a:xfrm>
          <a:prstGeom prst="rect">
            <a:avLst/>
          </a:prstGeom>
        </p:spPr>
      </p:pic>
    </p:spTree>
    <p:extLst>
      <p:ext uri="{BB962C8B-B14F-4D97-AF65-F5344CB8AC3E}">
        <p14:creationId xmlns:p14="http://schemas.microsoft.com/office/powerpoint/2010/main" val="297936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320982" y="5040097"/>
            <a:ext cx="9539994" cy="1431823"/>
          </a:xfrm>
        </p:spPr>
        <p:txBody>
          <a:bodyPr>
            <a:normAutofit/>
          </a:bodyPr>
          <a:lstStyle/>
          <a:p>
            <a:pPr marL="0" indent="0">
              <a:buNone/>
            </a:pPr>
            <a:r>
              <a:rPr lang="en-US" dirty="0"/>
              <a:t>Crop-level analysis shows substantial variation in both productivity and profitability.</a:t>
            </a:r>
          </a:p>
          <a:p>
            <a:pPr marL="0" indent="0">
              <a:buNone/>
            </a:pPr>
            <a:r>
              <a:rPr lang="en-US" dirty="0"/>
              <a:t>Sugarcane records the highest average yield and average profit in the dataset.</a:t>
            </a:r>
          </a:p>
          <a:p>
            <a:pPr marL="0" indent="0">
              <a:buNone/>
            </a:pPr>
            <a:endParaRPr lang="en-IN" dirty="0"/>
          </a:p>
        </p:txBody>
      </p:sp>
      <p:pic>
        <p:nvPicPr>
          <p:cNvPr id="3" name="Picture 2">
            <a:extLst>
              <a:ext uri="{FF2B5EF4-FFF2-40B4-BE49-F238E27FC236}">
                <a16:creationId xmlns:a16="http://schemas.microsoft.com/office/drawing/2014/main" id="{4C573D1A-5899-90D4-F45C-85648F37841C}"/>
              </a:ext>
            </a:extLst>
          </p:cNvPr>
          <p:cNvPicPr>
            <a:picLocks noChangeAspect="1"/>
          </p:cNvPicPr>
          <p:nvPr/>
        </p:nvPicPr>
        <p:blipFill>
          <a:blip r:embed="rId3"/>
          <a:stretch>
            <a:fillRect/>
          </a:stretch>
        </p:blipFill>
        <p:spPr>
          <a:xfrm>
            <a:off x="254593" y="1357169"/>
            <a:ext cx="4918274" cy="3384892"/>
          </a:xfrm>
          <a:prstGeom prst="rect">
            <a:avLst/>
          </a:prstGeom>
        </p:spPr>
      </p:pic>
      <p:pic>
        <p:nvPicPr>
          <p:cNvPr id="9" name="Picture 8">
            <a:extLst>
              <a:ext uri="{FF2B5EF4-FFF2-40B4-BE49-F238E27FC236}">
                <a16:creationId xmlns:a16="http://schemas.microsoft.com/office/drawing/2014/main" id="{84A4E3AC-1A06-61A6-825F-B22E25B96E7D}"/>
              </a:ext>
            </a:extLst>
          </p:cNvPr>
          <p:cNvPicPr>
            <a:picLocks noChangeAspect="1"/>
          </p:cNvPicPr>
          <p:nvPr/>
        </p:nvPicPr>
        <p:blipFill>
          <a:blip r:embed="rId4"/>
          <a:stretch>
            <a:fillRect/>
          </a:stretch>
        </p:blipFill>
        <p:spPr>
          <a:xfrm>
            <a:off x="5543314" y="1415759"/>
            <a:ext cx="4987560" cy="326771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518405" y="5701812"/>
            <a:ext cx="8224542" cy="866628"/>
          </a:xfrm>
        </p:spPr>
        <p:txBody>
          <a:bodyPr>
            <a:normAutofit fontScale="92500" lnSpcReduction="20000"/>
          </a:bodyPr>
          <a:lstStyle/>
          <a:p>
            <a:pPr marL="0" indent="0">
              <a:buNone/>
            </a:pPr>
            <a:r>
              <a:rPr lang="en-US" dirty="0"/>
              <a:t>Correlation analysis was performed to understand relationships between environmental conditions, agricultural inputs, yield, production, revenue, profit and resource efficiency.</a:t>
            </a:r>
            <a:endParaRPr lang="en-IN" dirty="0"/>
          </a:p>
        </p:txBody>
      </p:sp>
      <p:pic>
        <p:nvPicPr>
          <p:cNvPr id="3" name="Picture 2">
            <a:extLst>
              <a:ext uri="{FF2B5EF4-FFF2-40B4-BE49-F238E27FC236}">
                <a16:creationId xmlns:a16="http://schemas.microsoft.com/office/drawing/2014/main" id="{ECADBD72-05AF-2B8F-7817-C4D3B24504FA}"/>
              </a:ext>
            </a:extLst>
          </p:cNvPr>
          <p:cNvPicPr>
            <a:picLocks noChangeAspect="1"/>
          </p:cNvPicPr>
          <p:nvPr/>
        </p:nvPicPr>
        <p:blipFill>
          <a:blip r:embed="rId3"/>
          <a:stretch>
            <a:fillRect/>
          </a:stretch>
        </p:blipFill>
        <p:spPr>
          <a:xfrm>
            <a:off x="320981" y="1201586"/>
            <a:ext cx="7186723" cy="450022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E48D5-47ED-4105-5E8F-82BB8A1B163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9F37415-B203-1AF1-527C-C4CACDA0515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79FBB03-F82B-32D0-DB8A-EAAD2248763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0E8F393-B98F-FF26-C9C8-76744C98053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3308560-0CF5-14F2-372C-9A5FA6ACBA1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B9A6937-3E47-9596-B5E0-8BC390C65E36}"/>
              </a:ext>
            </a:extLst>
          </p:cNvPr>
          <p:cNvSpPr>
            <a:spLocks noGrp="1"/>
          </p:cNvSpPr>
          <p:nvPr>
            <p:ph type="body" sz="quarter" idx="12"/>
          </p:nvPr>
        </p:nvSpPr>
        <p:spPr>
          <a:xfrm>
            <a:off x="582573" y="5285875"/>
            <a:ext cx="8721848" cy="1022726"/>
          </a:xfrm>
        </p:spPr>
        <p:txBody>
          <a:bodyPr>
            <a:normAutofit fontScale="77500" lnSpcReduction="20000"/>
          </a:bodyPr>
          <a:lstStyle/>
          <a:p>
            <a:r>
              <a:rPr lang="en-US" dirty="0"/>
              <a:t>Irrigation methods show differences in yield, profitability and water efficiency, highlighting the importance of resource-management practices.</a:t>
            </a:r>
          </a:p>
          <a:p>
            <a:r>
              <a:rPr lang="en-US" dirty="0"/>
              <a:t>Drip irrigation shows strong performance in yield and profitability in the analyzed dataset.</a:t>
            </a:r>
          </a:p>
          <a:p>
            <a:pPr marL="0" indent="0">
              <a:buNone/>
            </a:pPr>
            <a:endParaRPr lang="en-IN" dirty="0"/>
          </a:p>
        </p:txBody>
      </p:sp>
      <p:pic>
        <p:nvPicPr>
          <p:cNvPr id="3" name="Picture 2">
            <a:extLst>
              <a:ext uri="{FF2B5EF4-FFF2-40B4-BE49-F238E27FC236}">
                <a16:creationId xmlns:a16="http://schemas.microsoft.com/office/drawing/2014/main" id="{C5DD0007-DAA0-0157-EE1C-4C28F5C03988}"/>
              </a:ext>
            </a:extLst>
          </p:cNvPr>
          <p:cNvPicPr>
            <a:picLocks noChangeAspect="1"/>
          </p:cNvPicPr>
          <p:nvPr/>
        </p:nvPicPr>
        <p:blipFill>
          <a:blip r:embed="rId3"/>
          <a:stretch>
            <a:fillRect/>
          </a:stretch>
        </p:blipFill>
        <p:spPr>
          <a:xfrm>
            <a:off x="747408" y="1130432"/>
            <a:ext cx="5834269" cy="4073783"/>
          </a:xfrm>
          <a:prstGeom prst="rect">
            <a:avLst/>
          </a:prstGeom>
        </p:spPr>
      </p:pic>
    </p:spTree>
    <p:extLst>
      <p:ext uri="{BB962C8B-B14F-4D97-AF65-F5344CB8AC3E}">
        <p14:creationId xmlns:p14="http://schemas.microsoft.com/office/powerpoint/2010/main" val="1602701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509C0-F656-052E-8D30-2EF87CAA08D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3DAD317-0356-DD17-DD39-C2304BFE721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3494D8F-E2C7-8E6E-A5F5-2088E31DB36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DCBA411-0B3A-263C-6C0C-5EF31F3A5B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7B36E32-BD99-ED24-1EA4-02560320D70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3A9DDEB-AC64-A69E-7F1B-C5BDC299CBD6}"/>
              </a:ext>
            </a:extLst>
          </p:cNvPr>
          <p:cNvSpPr>
            <a:spLocks noGrp="1"/>
          </p:cNvSpPr>
          <p:nvPr>
            <p:ph type="body" sz="quarter" idx="12"/>
          </p:nvPr>
        </p:nvSpPr>
        <p:spPr>
          <a:xfrm>
            <a:off x="502364" y="5592058"/>
            <a:ext cx="8216520" cy="666078"/>
          </a:xfrm>
        </p:spPr>
        <p:txBody>
          <a:bodyPr>
            <a:normAutofit fontScale="92500" lnSpcReduction="10000"/>
          </a:bodyPr>
          <a:lstStyle/>
          <a:p>
            <a:pPr marL="0" indent="0">
              <a:buNone/>
            </a:pPr>
            <a:r>
              <a:rPr lang="en-US" dirty="0"/>
              <a:t>The heatmap highlights how crop performance changes across seasons and helps identify season-specific high-performing crop combinations.</a:t>
            </a:r>
            <a:endParaRPr lang="en-IN" dirty="0"/>
          </a:p>
        </p:txBody>
      </p:sp>
      <p:pic>
        <p:nvPicPr>
          <p:cNvPr id="3" name="Picture 2">
            <a:extLst>
              <a:ext uri="{FF2B5EF4-FFF2-40B4-BE49-F238E27FC236}">
                <a16:creationId xmlns:a16="http://schemas.microsoft.com/office/drawing/2014/main" id="{FDBB6C90-5415-723A-AA1A-3922DDC4608B}"/>
              </a:ext>
            </a:extLst>
          </p:cNvPr>
          <p:cNvPicPr>
            <a:picLocks noChangeAspect="1"/>
          </p:cNvPicPr>
          <p:nvPr/>
        </p:nvPicPr>
        <p:blipFill>
          <a:blip r:embed="rId3"/>
          <a:stretch>
            <a:fillRect/>
          </a:stretch>
        </p:blipFill>
        <p:spPr>
          <a:xfrm>
            <a:off x="675957" y="1088125"/>
            <a:ext cx="6013601" cy="4253896"/>
          </a:xfrm>
          <a:prstGeom prst="rect">
            <a:avLst/>
          </a:prstGeom>
        </p:spPr>
      </p:pic>
    </p:spTree>
    <p:extLst>
      <p:ext uri="{BB962C8B-B14F-4D97-AF65-F5344CB8AC3E}">
        <p14:creationId xmlns:p14="http://schemas.microsoft.com/office/powerpoint/2010/main" val="3871192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BE109-20F2-D0B8-72B1-C7208A49DDC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134967-6D41-2268-FC55-3AB034F0570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E27A21B-0E5F-7914-C832-0A6A2CF847F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D95FABC-B8D4-32CD-FFDF-9BD617B3B46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D2BE27F-FA57-49BE-00E4-56F5DDB4CBA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DD0967D-4FA9-3F05-812F-1FF9FA6671DC}"/>
              </a:ext>
            </a:extLst>
          </p:cNvPr>
          <p:cNvSpPr>
            <a:spLocks noGrp="1"/>
          </p:cNvSpPr>
          <p:nvPr>
            <p:ph type="body" sz="quarter" idx="12"/>
          </p:nvPr>
        </p:nvSpPr>
        <p:spPr>
          <a:xfrm>
            <a:off x="494343" y="5582629"/>
            <a:ext cx="8120268" cy="758054"/>
          </a:xfrm>
        </p:spPr>
        <p:txBody>
          <a:bodyPr>
            <a:normAutofit fontScale="85000" lnSpcReduction="20000"/>
          </a:bodyPr>
          <a:lstStyle/>
          <a:p>
            <a:pPr marL="0" indent="0">
              <a:buNone/>
            </a:pPr>
            <a:r>
              <a:rPr lang="en-US" dirty="0"/>
              <a:t>This analysis evaluates crops using two important dimensions: profitability and water-use efficiency. It helps identify crops that combine economic returns with efficient resource utilization.</a:t>
            </a:r>
            <a:endParaRPr lang="en-IN" dirty="0"/>
          </a:p>
        </p:txBody>
      </p:sp>
      <p:pic>
        <p:nvPicPr>
          <p:cNvPr id="3" name="Picture 2">
            <a:extLst>
              <a:ext uri="{FF2B5EF4-FFF2-40B4-BE49-F238E27FC236}">
                <a16:creationId xmlns:a16="http://schemas.microsoft.com/office/drawing/2014/main" id="{56C0FC17-16AC-53C5-500F-B744003A39F8}"/>
              </a:ext>
            </a:extLst>
          </p:cNvPr>
          <p:cNvPicPr>
            <a:picLocks noChangeAspect="1"/>
          </p:cNvPicPr>
          <p:nvPr/>
        </p:nvPicPr>
        <p:blipFill>
          <a:blip r:embed="rId3"/>
          <a:stretch>
            <a:fillRect/>
          </a:stretch>
        </p:blipFill>
        <p:spPr>
          <a:xfrm>
            <a:off x="579705" y="1201586"/>
            <a:ext cx="6290798" cy="4029589"/>
          </a:xfrm>
          <a:prstGeom prst="rect">
            <a:avLst/>
          </a:prstGeom>
        </p:spPr>
      </p:pic>
    </p:spTree>
    <p:extLst>
      <p:ext uri="{BB962C8B-B14F-4D97-AF65-F5344CB8AC3E}">
        <p14:creationId xmlns:p14="http://schemas.microsoft.com/office/powerpoint/2010/main" val="247559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CE890-33C6-9DD3-031B-EA5D1452FAB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37AA7ED-FFAC-CE86-5372-6BF6DA0EBB6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EC26CFC-F465-89DB-48D5-6846122824F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E045807-A132-7B88-FBC8-9390527AC73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7E04692-7A90-C763-CAB1-F188C1757EA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47886A3-DB66-6BF4-885D-C92A289F5E26}"/>
              </a:ext>
            </a:extLst>
          </p:cNvPr>
          <p:cNvSpPr>
            <a:spLocks noGrp="1"/>
          </p:cNvSpPr>
          <p:nvPr>
            <p:ph type="body" sz="quarter" idx="12"/>
          </p:nvPr>
        </p:nvSpPr>
        <p:spPr>
          <a:xfrm>
            <a:off x="419219" y="5582629"/>
            <a:ext cx="7270036" cy="725970"/>
          </a:xfrm>
        </p:spPr>
        <p:txBody>
          <a:bodyPr>
            <a:normAutofit fontScale="85000" lnSpcReduction="10000"/>
          </a:bodyPr>
          <a:lstStyle/>
          <a:p>
            <a:pPr marL="0" indent="0">
              <a:buNone/>
            </a:pPr>
            <a:r>
              <a:rPr lang="en-US" dirty="0"/>
              <a:t>Disease and pest risk varies across seasons. Comparing risk with yield provides additional context for seasonal agricultural planning.</a:t>
            </a:r>
            <a:endParaRPr lang="en-IN" dirty="0"/>
          </a:p>
        </p:txBody>
      </p:sp>
      <p:pic>
        <p:nvPicPr>
          <p:cNvPr id="3" name="Picture 2">
            <a:extLst>
              <a:ext uri="{FF2B5EF4-FFF2-40B4-BE49-F238E27FC236}">
                <a16:creationId xmlns:a16="http://schemas.microsoft.com/office/drawing/2014/main" id="{73C45D9F-06AB-C431-6E7F-6063EED64FB3}"/>
              </a:ext>
            </a:extLst>
          </p:cNvPr>
          <p:cNvPicPr>
            <a:picLocks noChangeAspect="1"/>
          </p:cNvPicPr>
          <p:nvPr/>
        </p:nvPicPr>
        <p:blipFill>
          <a:blip r:embed="rId3"/>
          <a:stretch>
            <a:fillRect/>
          </a:stretch>
        </p:blipFill>
        <p:spPr>
          <a:xfrm>
            <a:off x="596646" y="1039323"/>
            <a:ext cx="7498095" cy="4379985"/>
          </a:xfrm>
          <a:prstGeom prst="rect">
            <a:avLst/>
          </a:prstGeom>
        </p:spPr>
      </p:pic>
    </p:spTree>
    <p:extLst>
      <p:ext uri="{BB962C8B-B14F-4D97-AF65-F5344CB8AC3E}">
        <p14:creationId xmlns:p14="http://schemas.microsoft.com/office/powerpoint/2010/main" val="97924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07315-C1A1-4591-4E28-D1736A9E61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3DA64FA-2E8B-3036-3D8A-35607642810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86C6F17-8A34-BE0E-C50C-53567D81182B}"/>
              </a:ext>
            </a:extLst>
          </p:cNvPr>
          <p:cNvSpPr>
            <a:spLocks noGrp="1"/>
          </p:cNvSpPr>
          <p:nvPr>
            <p:ph type="title"/>
          </p:nvPr>
        </p:nvSpPr>
        <p:spPr>
          <a:xfrm>
            <a:off x="675956" y="370589"/>
            <a:ext cx="9663181" cy="5990106"/>
          </a:xfrm>
        </p:spPr>
        <p:txBody>
          <a:bodyPr>
            <a:noAutofit/>
          </a:bodyPr>
          <a:lstStyle/>
          <a:p>
            <a:pPr>
              <a:lnSpc>
                <a:spcPct val="150000"/>
              </a:lnSpc>
            </a:pPr>
            <a:r>
              <a:rPr lang="en-US" sz="3600" dirty="0"/>
              <a:t>Key Insights</a:t>
            </a:r>
            <a:br>
              <a:rPr lang="en-US" sz="2000" dirty="0"/>
            </a:br>
            <a:br>
              <a:rPr lang="en-US" sz="2000" dirty="0"/>
            </a:br>
            <a:r>
              <a:rPr lang="en-US" sz="2000" dirty="0"/>
              <a:t>1. Kharif records the highest average yield in the dataset. </a:t>
            </a:r>
            <a:br>
              <a:rPr lang="en-US" sz="2000" dirty="0"/>
            </a:br>
            <a:r>
              <a:rPr lang="en-US" sz="2000" dirty="0"/>
              <a:t>2. Agricultural performance varies significantly across seasons. </a:t>
            </a:r>
            <a:br>
              <a:rPr lang="en-US" sz="2000" dirty="0"/>
            </a:br>
            <a:r>
              <a:rPr lang="en-US" sz="2000" dirty="0"/>
              <a:t>3. Crop performance differs across seasonal conditions. </a:t>
            </a:r>
            <a:br>
              <a:rPr lang="en-US" sz="2000" dirty="0"/>
            </a:br>
            <a:r>
              <a:rPr lang="en-US" sz="2000" dirty="0"/>
              <a:t>4. Sugarcane shows the highest average yield in the analyzed dataset. </a:t>
            </a:r>
            <a:br>
              <a:rPr lang="en-US" sz="2000" dirty="0"/>
            </a:br>
            <a:r>
              <a:rPr lang="en-US" sz="2000" dirty="0"/>
              <a:t>5. Crop profitability varies considerably. </a:t>
            </a:r>
            <a:br>
              <a:rPr lang="en-US" sz="2000" dirty="0"/>
            </a:br>
            <a:r>
              <a:rPr lang="en-US" sz="2000" dirty="0"/>
              <a:t>6. Irrigation methods show differences in yield and water efficiency. </a:t>
            </a:r>
            <a:br>
              <a:rPr lang="en-US" sz="2000" dirty="0"/>
            </a:br>
            <a:r>
              <a:rPr lang="en-US" sz="2000" dirty="0"/>
              <a:t>7. Yield has strong relationships with production and resource-efficiency variables. </a:t>
            </a:r>
            <a:br>
              <a:rPr lang="en-US" sz="2000" dirty="0"/>
            </a:br>
            <a:r>
              <a:rPr lang="en-US" sz="2000" dirty="0"/>
              <a:t>8. Disease/pest risk differs across seasons and should be considered during planning.</a:t>
            </a:r>
            <a:endParaRPr lang="en-IN" sz="2000" dirty="0"/>
          </a:p>
        </p:txBody>
      </p:sp>
      <p:sp>
        <p:nvSpPr>
          <p:cNvPr id="7" name="Text Placeholder 30">
            <a:extLst>
              <a:ext uri="{FF2B5EF4-FFF2-40B4-BE49-F238E27FC236}">
                <a16:creationId xmlns:a16="http://schemas.microsoft.com/office/drawing/2014/main" id="{95E78CD6-8C9A-730A-E221-C381916C7C8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01BD998-2190-382A-C0DB-33A0702FCA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42728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1" y="1275370"/>
            <a:ext cx="7034323" cy="4227071"/>
          </a:xfrm>
          <a:prstGeom prst="rect">
            <a:avLst/>
          </a:prstGeom>
        </p:spPr>
        <p:txBody>
          <a:bodyPr vert="horz" lIns="91440" tIns="45720" rIns="91440" bIns="45720" rtlCol="0">
            <a:normAutofit fontScale="92500"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gn="l">
              <a:lnSpc>
                <a:spcPct val="150000"/>
              </a:lnSpc>
              <a:buFont typeface="Wingdings" panose="05000000000000000000" pitchFamily="2" charset="2"/>
              <a:buChar char="q"/>
            </a:pPr>
            <a:r>
              <a:rPr lang="en-US" sz="2000" dirty="0"/>
              <a:t>Integrate real-time weather data. </a:t>
            </a:r>
          </a:p>
          <a:p>
            <a:pPr marL="342900" lvl="0" indent="-342900" algn="l">
              <a:lnSpc>
                <a:spcPct val="150000"/>
              </a:lnSpc>
              <a:buFont typeface="Wingdings" panose="05000000000000000000" pitchFamily="2" charset="2"/>
              <a:buChar char="q"/>
            </a:pPr>
            <a:r>
              <a:rPr lang="en-US" sz="2000" dirty="0"/>
              <a:t>Include multi-year agricultural datasets. </a:t>
            </a:r>
          </a:p>
          <a:p>
            <a:pPr marL="342900" lvl="0" indent="-342900" algn="l">
              <a:lnSpc>
                <a:spcPct val="150000"/>
              </a:lnSpc>
              <a:buFont typeface="Wingdings" panose="05000000000000000000" pitchFamily="2" charset="2"/>
              <a:buChar char="q"/>
            </a:pPr>
            <a:r>
              <a:rPr lang="en-US" sz="2000" dirty="0"/>
              <a:t>Develop crop yield prediction models. </a:t>
            </a:r>
          </a:p>
          <a:p>
            <a:pPr marL="342900" lvl="0" indent="-342900" algn="l">
              <a:lnSpc>
                <a:spcPct val="150000"/>
              </a:lnSpc>
              <a:buFont typeface="Wingdings" panose="05000000000000000000" pitchFamily="2" charset="2"/>
              <a:buChar char="q"/>
            </a:pPr>
            <a:r>
              <a:rPr lang="en-US" sz="2000" dirty="0"/>
              <a:t>Build seasonal crop recommendation systems. </a:t>
            </a:r>
          </a:p>
          <a:p>
            <a:pPr marL="342900" lvl="0" indent="-342900" algn="l">
              <a:lnSpc>
                <a:spcPct val="150000"/>
              </a:lnSpc>
              <a:buFont typeface="Wingdings" panose="05000000000000000000" pitchFamily="2" charset="2"/>
              <a:buChar char="q"/>
            </a:pPr>
            <a:r>
              <a:rPr lang="en-US" sz="2000" dirty="0"/>
              <a:t>Use machine learning for yield and profit prediction. </a:t>
            </a:r>
          </a:p>
          <a:p>
            <a:pPr marL="342900" lvl="0" indent="-342900" algn="l">
              <a:lnSpc>
                <a:spcPct val="150000"/>
              </a:lnSpc>
              <a:buFont typeface="Wingdings" panose="05000000000000000000" pitchFamily="2" charset="2"/>
              <a:buChar char="q"/>
            </a:pPr>
            <a:r>
              <a:rPr lang="en-US" sz="2000" dirty="0"/>
              <a:t>Develop interactive dashboards using Power BI or </a:t>
            </a:r>
            <a:r>
              <a:rPr lang="en-US" sz="2000" dirty="0" err="1"/>
              <a:t>Streamlit</a:t>
            </a:r>
            <a:r>
              <a:rPr lang="en-US" sz="2000" dirty="0"/>
              <a:t>. </a:t>
            </a:r>
          </a:p>
          <a:p>
            <a:pPr marL="342900" lvl="0" indent="-342900" algn="l">
              <a:lnSpc>
                <a:spcPct val="150000"/>
              </a:lnSpc>
              <a:buFont typeface="Wingdings" panose="05000000000000000000" pitchFamily="2" charset="2"/>
              <a:buChar char="q"/>
            </a:pPr>
            <a:r>
              <a:rPr lang="en-US" sz="2000" dirty="0"/>
              <a:t>Incorporate satellite and soil sensor data. </a:t>
            </a:r>
          </a:p>
          <a:p>
            <a:pPr marL="342900" lvl="0" indent="-342900" algn="l">
              <a:lnSpc>
                <a:spcPct val="150000"/>
              </a:lnSpc>
              <a:buFont typeface="Wingdings" panose="05000000000000000000" pitchFamily="2" charset="2"/>
              <a:buChar char="q"/>
            </a:pPr>
            <a:r>
              <a:rPr lang="en-US" sz="2000" dirty="0"/>
              <a:t>Provide region-specific agricultural recommendations.</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923330"/>
          </a:xfrm>
          <a:prstGeom prst="rect">
            <a:avLst/>
          </a:prstGeom>
          <a:noFill/>
        </p:spPr>
        <p:txBody>
          <a:bodyPr wrap="square">
            <a:spAutoFit/>
          </a:bodyPr>
          <a:lstStyle/>
          <a:p>
            <a:r>
              <a:rPr lang="en-US" dirty="0">
                <a:hlinkClick r:id="rId3"/>
              </a:rPr>
              <a:t>https://github.com/Aarush-Singh01/seasonal-agriculture-performance-analysis.git</a:t>
            </a:r>
            <a:endParaRPr lang="en-US" dirty="0"/>
          </a:p>
          <a:p>
            <a:r>
              <a:rPr lang="en-US" dirty="0">
                <a:hlinkClick r:id="rId3"/>
              </a:rPr>
              <a:t>GitHub</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34B4520-A720-E13B-9DF1-4B22AE42AC82}"/>
              </a:ext>
            </a:extLst>
          </p:cNvPr>
          <p:cNvPicPr>
            <a:picLocks noChangeAspect="1"/>
          </p:cNvPicPr>
          <p:nvPr/>
        </p:nvPicPr>
        <p:blipFill>
          <a:blip r:embed="rId3"/>
          <a:stretch>
            <a:fillRect/>
          </a:stretch>
        </p:blipFill>
        <p:spPr>
          <a:xfrm>
            <a:off x="675957" y="1484863"/>
            <a:ext cx="7597326" cy="537313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771480F9-1F1E-786A-1469-69C98B03A074}"/>
              </a:ext>
            </a:extLst>
          </p:cNvPr>
          <p:cNvPicPr>
            <a:picLocks noChangeAspect="1"/>
          </p:cNvPicPr>
          <p:nvPr/>
        </p:nvPicPr>
        <p:blipFill>
          <a:blip r:embed="rId3"/>
          <a:stretch>
            <a:fillRect/>
          </a:stretch>
        </p:blipFill>
        <p:spPr>
          <a:xfrm>
            <a:off x="732821" y="1504481"/>
            <a:ext cx="7593032" cy="5370100"/>
          </a:xfrm>
          <a:prstGeom prst="rect">
            <a:avLst/>
          </a:prstGeom>
        </p:spPr>
      </p:pic>
      <p:sp>
        <p:nvSpPr>
          <p:cNvPr id="7" name="Title 3">
            <a:extLst>
              <a:ext uri="{FF2B5EF4-FFF2-40B4-BE49-F238E27FC236}">
                <a16:creationId xmlns:a16="http://schemas.microsoft.com/office/drawing/2014/main" id="{FAC82534-EF15-0DE7-619A-8F0B9D2018FB}"/>
              </a:ext>
            </a:extLst>
          </p:cNvPr>
          <p:cNvSpPr>
            <a:spLocks noGrp="1"/>
          </p:cNvSpPr>
          <p:nvPr>
            <p:ph type="title"/>
          </p:nvPr>
        </p:nvSpPr>
        <p:spPr>
          <a:xfrm>
            <a:off x="675957" y="370589"/>
            <a:ext cx="8351388" cy="884658"/>
          </a:xfrm>
        </p:spPr>
        <p:txBody>
          <a:bodyPr>
            <a:normAutofit fontScale="90000"/>
          </a:body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Data Analysis Using NumPy</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500" fill="hold"/>
                                        <p:tgtEl>
                                          <p:spTgt spid="7"/>
                                        </p:tgtEl>
                                        <p:attrNameLst>
                                          <p:attrName>ppt_w</p:attrName>
                                        </p:attrNameLst>
                                      </p:cBhvr>
                                      <p:tavLst>
                                        <p:tav tm="0">
                                          <p:val>
                                            <p:fltVal val="0"/>
                                          </p:val>
                                        </p:tav>
                                        <p:tav tm="100000">
                                          <p:val>
                                            <p:strVal val="#ppt_w"/>
                                          </p:val>
                                        </p:tav>
                                      </p:tavLst>
                                    </p:anim>
                                    <p:anim calcmode="lin" valueType="num">
                                      <p:cBhvr>
                                        <p:cTn id="44" dur="500" fill="hold"/>
                                        <p:tgtEl>
                                          <p:spTgt spid="7"/>
                                        </p:tgtEl>
                                        <p:attrNameLst>
                                          <p:attrName>ppt_h</p:attrName>
                                        </p:attrNameLst>
                                      </p:cBhvr>
                                      <p:tavLst>
                                        <p:tav tm="0">
                                          <p:val>
                                            <p:fltVal val="0"/>
                                          </p:val>
                                        </p:tav>
                                        <p:tav tm="100000">
                                          <p:val>
                                            <p:strVal val="#ppt_h"/>
                                          </p:val>
                                        </p:tav>
                                      </p:tavLst>
                                    </p:anim>
                                    <p:animEffect transition="in" filter="fade">
                                      <p:cBhvr>
                                        <p:cTn id="4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5B72C-352C-A54E-6F58-7F32451F77B9}"/>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43902565-694A-6C52-7BDB-D4BC774ED8CC}"/>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BEF5DD0A-07D6-DCAA-420C-144DC284F2D6}"/>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DA8CAB0A-9D70-8BCA-89D9-0CC07F6F396B}"/>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BB72C739-ADFA-8EA8-1FF7-143F362136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1D50F960-FE01-45ED-E658-30C9978F528D}"/>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88F58F86-D401-7AB7-81C0-31F2A7E4C1C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87B013B4-B8F6-9119-818D-1BDD688B518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631DC79D-21BB-F6F0-A224-33B61F907E6E}"/>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00547FEB-8C4E-99FF-64D1-CBE40B5E207C}"/>
              </a:ext>
            </a:extLst>
          </p:cNvPr>
          <p:cNvPicPr>
            <a:picLocks noChangeAspect="1"/>
          </p:cNvPicPr>
          <p:nvPr/>
        </p:nvPicPr>
        <p:blipFill>
          <a:blip r:embed="rId3"/>
          <a:stretch>
            <a:fillRect/>
          </a:stretch>
        </p:blipFill>
        <p:spPr>
          <a:xfrm>
            <a:off x="675957" y="1345572"/>
            <a:ext cx="7794275" cy="5512428"/>
          </a:xfrm>
          <a:prstGeom prst="rect">
            <a:avLst/>
          </a:prstGeom>
        </p:spPr>
      </p:pic>
      <p:sp>
        <p:nvSpPr>
          <p:cNvPr id="7" name="Title 3">
            <a:extLst>
              <a:ext uri="{FF2B5EF4-FFF2-40B4-BE49-F238E27FC236}">
                <a16:creationId xmlns:a16="http://schemas.microsoft.com/office/drawing/2014/main" id="{32BF5C70-97CA-48E6-1731-AD56F956E625}"/>
              </a:ext>
            </a:extLst>
          </p:cNvPr>
          <p:cNvSpPr>
            <a:spLocks noGrp="1"/>
          </p:cNvSpPr>
          <p:nvPr>
            <p:ph type="title"/>
          </p:nvPr>
        </p:nvSpPr>
        <p:spPr>
          <a:xfrm>
            <a:off x="675957" y="370589"/>
            <a:ext cx="8351388" cy="884658"/>
          </a:xfrm>
        </p:spPr>
        <p:txBody>
          <a:bodyPr>
            <a:normAutofit fontScale="90000"/>
          </a:body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Data Visualization </a:t>
            </a:r>
          </a:p>
        </p:txBody>
      </p:sp>
    </p:spTree>
    <p:extLst>
      <p:ext uri="{BB962C8B-B14F-4D97-AF65-F5344CB8AC3E}">
        <p14:creationId xmlns:p14="http://schemas.microsoft.com/office/powerpoint/2010/main" val="422242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500" fill="hold"/>
                                        <p:tgtEl>
                                          <p:spTgt spid="7"/>
                                        </p:tgtEl>
                                        <p:attrNameLst>
                                          <p:attrName>ppt_w</p:attrName>
                                        </p:attrNameLst>
                                      </p:cBhvr>
                                      <p:tavLst>
                                        <p:tav tm="0">
                                          <p:val>
                                            <p:fltVal val="0"/>
                                          </p:val>
                                        </p:tav>
                                        <p:tav tm="100000">
                                          <p:val>
                                            <p:strVal val="#ppt_w"/>
                                          </p:val>
                                        </p:tav>
                                      </p:tavLst>
                                    </p:anim>
                                    <p:anim calcmode="lin" valueType="num">
                                      <p:cBhvr>
                                        <p:cTn id="44" dur="500" fill="hold"/>
                                        <p:tgtEl>
                                          <p:spTgt spid="7"/>
                                        </p:tgtEl>
                                        <p:attrNameLst>
                                          <p:attrName>ppt_h</p:attrName>
                                        </p:attrNameLst>
                                      </p:cBhvr>
                                      <p:tavLst>
                                        <p:tav tm="0">
                                          <p:val>
                                            <p:fltVal val="0"/>
                                          </p:val>
                                        </p:tav>
                                        <p:tav tm="100000">
                                          <p:val>
                                            <p:strVal val="#ppt_h"/>
                                          </p:val>
                                        </p:tav>
                                      </p:tavLst>
                                    </p:anim>
                                    <p:animEffect transition="in" filter="fade">
                                      <p:cBhvr>
                                        <p:cTn id="4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EF938-6385-B295-EAA3-ABC3F63379EF}"/>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5DCECA78-C517-0FD7-DAFA-1149F9EAEED6}"/>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D2098076-0902-4BAD-B73B-F96C6C32B7D6}"/>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10A35AF7-D5D7-CF14-EE8C-EE1A8B5F2B9D}"/>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4418D040-978E-B162-7E13-2C9352CDB020}"/>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25392D96-01E9-1352-50BC-B14F7B375AE0}"/>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879252A6-A629-2CB2-0E96-062A69B85004}"/>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1E928C8C-3FD2-C206-6779-798890CC6B7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49152D62-46BD-F88A-B555-37B7021C8C0C}"/>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1A7F4C51-1C7F-96A0-3334-B0B86BDC84DE}"/>
              </a:ext>
            </a:extLst>
          </p:cNvPr>
          <p:cNvPicPr>
            <a:picLocks noChangeAspect="1"/>
          </p:cNvPicPr>
          <p:nvPr/>
        </p:nvPicPr>
        <p:blipFill>
          <a:blip r:embed="rId3"/>
          <a:stretch>
            <a:fillRect/>
          </a:stretch>
        </p:blipFill>
        <p:spPr>
          <a:xfrm>
            <a:off x="675957" y="1329197"/>
            <a:ext cx="7817429" cy="5528803"/>
          </a:xfrm>
          <a:prstGeom prst="rect">
            <a:avLst/>
          </a:prstGeom>
        </p:spPr>
      </p:pic>
      <p:sp>
        <p:nvSpPr>
          <p:cNvPr id="7" name="Title 3">
            <a:extLst>
              <a:ext uri="{FF2B5EF4-FFF2-40B4-BE49-F238E27FC236}">
                <a16:creationId xmlns:a16="http://schemas.microsoft.com/office/drawing/2014/main" id="{FAC842FB-65F3-53CF-9FD8-0784FC4C0C91}"/>
              </a:ext>
            </a:extLst>
          </p:cNvPr>
          <p:cNvSpPr>
            <a:spLocks noGrp="1"/>
          </p:cNvSpPr>
          <p:nvPr>
            <p:ph type="title"/>
          </p:nvPr>
        </p:nvSpPr>
        <p:spPr>
          <a:xfrm>
            <a:off x="675957" y="370589"/>
            <a:ext cx="8351388" cy="884658"/>
          </a:xfrm>
        </p:spPr>
        <p:txBody>
          <a:bodyPr>
            <a:normAutofit fontScale="90000"/>
          </a:body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Permission Management </a:t>
            </a:r>
          </a:p>
        </p:txBody>
      </p:sp>
    </p:spTree>
    <p:extLst>
      <p:ext uri="{BB962C8B-B14F-4D97-AF65-F5344CB8AC3E}">
        <p14:creationId xmlns:p14="http://schemas.microsoft.com/office/powerpoint/2010/main" val="2069304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500" fill="hold"/>
                                        <p:tgtEl>
                                          <p:spTgt spid="7"/>
                                        </p:tgtEl>
                                        <p:attrNameLst>
                                          <p:attrName>ppt_w</p:attrName>
                                        </p:attrNameLst>
                                      </p:cBhvr>
                                      <p:tavLst>
                                        <p:tav tm="0">
                                          <p:val>
                                            <p:fltVal val="0"/>
                                          </p:val>
                                        </p:tav>
                                        <p:tav tm="100000">
                                          <p:val>
                                            <p:strVal val="#ppt_w"/>
                                          </p:val>
                                        </p:tav>
                                      </p:tavLst>
                                    </p:anim>
                                    <p:anim calcmode="lin" valueType="num">
                                      <p:cBhvr>
                                        <p:cTn id="44" dur="500" fill="hold"/>
                                        <p:tgtEl>
                                          <p:spTgt spid="7"/>
                                        </p:tgtEl>
                                        <p:attrNameLst>
                                          <p:attrName>ppt_h</p:attrName>
                                        </p:attrNameLst>
                                      </p:cBhvr>
                                      <p:tavLst>
                                        <p:tav tm="0">
                                          <p:val>
                                            <p:fltVal val="0"/>
                                          </p:val>
                                        </p:tav>
                                        <p:tav tm="100000">
                                          <p:val>
                                            <p:strVal val="#ppt_h"/>
                                          </p:val>
                                        </p:tav>
                                      </p:tavLst>
                                    </p:anim>
                                    <p:animEffect transition="in" filter="fade">
                                      <p:cBhvr>
                                        <p:cTn id="4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E8836-13AE-BFBD-3EF2-C8928966C259}"/>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AF286E9F-4000-2816-3DA7-E047665D4BA3}"/>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763C2891-D3B4-B69A-D316-A990E688FB00}"/>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2FD570A-BBA7-FE20-04D3-C17B76FB7D53}"/>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0D14D4A3-DD4F-DCD4-CE21-E309DE412831}"/>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4C8123F2-F1FB-6821-A9E5-01DD831DA7C5}"/>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95304D32-D744-10F9-7403-FCC9147D7B8B}"/>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48493A31-6C85-DB57-729B-817AFA2EFCC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298CE5D1-9629-F959-D42C-AC602D53F52E}"/>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ADD8FD1A-FFA4-394D-77D3-23FB3EBE75D9}"/>
              </a:ext>
            </a:extLst>
          </p:cNvPr>
          <p:cNvPicPr>
            <a:picLocks noChangeAspect="1"/>
          </p:cNvPicPr>
          <p:nvPr/>
        </p:nvPicPr>
        <p:blipFill>
          <a:blip r:embed="rId3"/>
          <a:stretch>
            <a:fillRect/>
          </a:stretch>
        </p:blipFill>
        <p:spPr>
          <a:xfrm>
            <a:off x="675957" y="1379636"/>
            <a:ext cx="7791104" cy="5510185"/>
          </a:xfrm>
          <a:prstGeom prst="rect">
            <a:avLst/>
          </a:prstGeom>
        </p:spPr>
      </p:pic>
      <p:sp>
        <p:nvSpPr>
          <p:cNvPr id="5" name="Title 3">
            <a:extLst>
              <a:ext uri="{FF2B5EF4-FFF2-40B4-BE49-F238E27FC236}">
                <a16:creationId xmlns:a16="http://schemas.microsoft.com/office/drawing/2014/main" id="{388692F0-01B8-6AF3-97DF-578EFA9CA915}"/>
              </a:ext>
            </a:extLst>
          </p:cNvPr>
          <p:cNvSpPr txBox="1">
            <a:spLocks/>
          </p:cNvSpPr>
          <p:nvPr/>
        </p:nvSpPr>
        <p:spPr>
          <a:xfrm>
            <a:off x="675957" y="370589"/>
            <a:ext cx="8351388" cy="884658"/>
          </a:xfrm>
          <a:prstGeom prst="rect">
            <a:avLst/>
          </a:prstGeom>
        </p:spPr>
        <p:txBody>
          <a:bodyPr vert="horz" lIns="91440" tIns="45720" rIns="91440" bIns="45720" rtlCol="0" anchor="ctr">
            <a:normAutofit fontScale="90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Linux Vi Text Editors</a:t>
            </a:r>
          </a:p>
        </p:txBody>
      </p:sp>
    </p:spTree>
    <p:extLst>
      <p:ext uri="{BB962C8B-B14F-4D97-AF65-F5344CB8AC3E}">
        <p14:creationId xmlns:p14="http://schemas.microsoft.com/office/powerpoint/2010/main" val="318199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60863-1D4A-899A-6629-4311941C83AE}"/>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2759E48B-E578-77FF-1AE7-6761A8A8EBC1}"/>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9D6D9645-3A0F-A28F-D5C9-07267F481760}"/>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4B3CBE1-BABA-4ACB-82A7-415701BD786C}"/>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74928E14-91A6-8AB8-1837-735D3B0DFE55}"/>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0905A126-6F60-CE20-D4DF-EFDD81831CDE}"/>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54D7F734-A4DD-D1B5-A142-8FB1AFA08C23}"/>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250D31C0-8ABC-5857-FC24-11565149814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3078790E-7791-779C-1E45-9C56FA96634E}"/>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3D2363C3-0CF5-9BAC-4C25-7AC7EA52A580}"/>
              </a:ext>
            </a:extLst>
          </p:cNvPr>
          <p:cNvPicPr>
            <a:picLocks noChangeAspect="1"/>
          </p:cNvPicPr>
          <p:nvPr/>
        </p:nvPicPr>
        <p:blipFill>
          <a:blip r:embed="rId3"/>
          <a:stretch>
            <a:fillRect/>
          </a:stretch>
        </p:blipFill>
        <p:spPr>
          <a:xfrm>
            <a:off x="675957" y="1403805"/>
            <a:ext cx="7711937" cy="5454195"/>
          </a:xfrm>
          <a:prstGeom prst="rect">
            <a:avLst/>
          </a:prstGeom>
        </p:spPr>
      </p:pic>
      <p:sp>
        <p:nvSpPr>
          <p:cNvPr id="5" name="Title 3">
            <a:extLst>
              <a:ext uri="{FF2B5EF4-FFF2-40B4-BE49-F238E27FC236}">
                <a16:creationId xmlns:a16="http://schemas.microsoft.com/office/drawing/2014/main" id="{7E5AD0F0-45F5-EDA0-30C8-F47CBBE38B2B}"/>
              </a:ext>
            </a:extLst>
          </p:cNvPr>
          <p:cNvSpPr txBox="1">
            <a:spLocks/>
          </p:cNvSpPr>
          <p:nvPr/>
        </p:nvSpPr>
        <p:spPr>
          <a:xfrm>
            <a:off x="675957" y="370589"/>
            <a:ext cx="8351388" cy="884658"/>
          </a:xfrm>
          <a:prstGeom prst="rect">
            <a:avLst/>
          </a:prstGeom>
        </p:spPr>
        <p:txBody>
          <a:bodyPr vert="horz" lIns="91440" tIns="45720" rIns="91440" bIns="45720" rtlCol="0" anchor="ctr">
            <a:normAutofit fontScale="90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Linux Administration </a:t>
            </a:r>
          </a:p>
        </p:txBody>
      </p:sp>
    </p:spTree>
    <p:extLst>
      <p:ext uri="{BB962C8B-B14F-4D97-AF65-F5344CB8AC3E}">
        <p14:creationId xmlns:p14="http://schemas.microsoft.com/office/powerpoint/2010/main" val="2439613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2FD95-854E-8149-8821-4C08D5434BCE}"/>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7A70870E-36FD-C138-46B9-4AE8265F274D}"/>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9A614C1A-6B5C-C858-4E64-F4D2071100B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3A5688F5-1FF3-CB87-A513-23C4433A6550}"/>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FD07D15-78B9-8A15-DEA1-528EF7AE603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879983A8-C9B1-ADCC-9020-59A216BA769C}"/>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97FE2F56-442F-8388-2187-A39B01AC0700}"/>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891C9EB5-06E7-B6F1-DD47-C0B081B677F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0772E503-2253-FFB2-F710-462E7E1043F6}"/>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FA6D2E4B-5558-71A7-B284-95B7F451C7E4}"/>
              </a:ext>
            </a:extLst>
          </p:cNvPr>
          <p:cNvPicPr>
            <a:picLocks noChangeAspect="1"/>
          </p:cNvPicPr>
          <p:nvPr/>
        </p:nvPicPr>
        <p:blipFill>
          <a:blip r:embed="rId3"/>
          <a:stretch>
            <a:fillRect/>
          </a:stretch>
        </p:blipFill>
        <p:spPr>
          <a:xfrm>
            <a:off x="762897" y="1379621"/>
            <a:ext cx="7746133" cy="5478379"/>
          </a:xfrm>
          <a:prstGeom prst="rect">
            <a:avLst/>
          </a:prstGeom>
        </p:spPr>
      </p:pic>
      <p:sp>
        <p:nvSpPr>
          <p:cNvPr id="5" name="Title 3">
            <a:extLst>
              <a:ext uri="{FF2B5EF4-FFF2-40B4-BE49-F238E27FC236}">
                <a16:creationId xmlns:a16="http://schemas.microsoft.com/office/drawing/2014/main" id="{A70C5F98-3136-02AC-CC5E-618C2A08F924}"/>
              </a:ext>
            </a:extLst>
          </p:cNvPr>
          <p:cNvSpPr txBox="1">
            <a:spLocks/>
          </p:cNvSpPr>
          <p:nvPr/>
        </p:nvSpPr>
        <p:spPr>
          <a:xfrm>
            <a:off x="675957" y="370589"/>
            <a:ext cx="8351388" cy="884658"/>
          </a:xfrm>
          <a:prstGeom prst="rect">
            <a:avLst/>
          </a:prstGeom>
        </p:spPr>
        <p:txBody>
          <a:bodyPr vert="horz" lIns="91440" tIns="45720" rIns="91440" bIns="45720" rtlCol="0" anchor="ctr">
            <a:normAutofit fontScale="825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Getting Started with Class and Objects</a:t>
            </a:r>
          </a:p>
        </p:txBody>
      </p:sp>
    </p:spTree>
    <p:extLst>
      <p:ext uri="{BB962C8B-B14F-4D97-AF65-F5344CB8AC3E}">
        <p14:creationId xmlns:p14="http://schemas.microsoft.com/office/powerpoint/2010/main" val="3230608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AC836-B6DD-EECD-4A9F-E39B01192F35}"/>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E9A5670F-CE89-9271-D25E-871896D8EAE3}"/>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9A15A9C1-947B-6B91-0A12-9AA49BB85BC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407A4D6C-2A69-2ED9-1E8A-331475420BA3}"/>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FED97182-AD6C-5593-1183-126D4BF8EF12}"/>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97E60845-4C88-104B-C7BA-1AB008B1B713}"/>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4DD90600-46F0-1CD7-C211-2C83721D2B57}"/>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85DBD821-3121-501D-906B-841B56DE698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15020147-DBA2-6AE1-7790-1202CCAA3C98}"/>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FBB57ABF-116C-11C1-89A4-01DA1410BCDE}"/>
              </a:ext>
            </a:extLst>
          </p:cNvPr>
          <p:cNvPicPr>
            <a:picLocks noChangeAspect="1"/>
          </p:cNvPicPr>
          <p:nvPr/>
        </p:nvPicPr>
        <p:blipFill>
          <a:blip r:embed="rId3"/>
          <a:stretch>
            <a:fillRect/>
          </a:stretch>
        </p:blipFill>
        <p:spPr>
          <a:xfrm>
            <a:off x="675957" y="1255247"/>
            <a:ext cx="7960589" cy="5630051"/>
          </a:xfrm>
          <a:prstGeom prst="rect">
            <a:avLst/>
          </a:prstGeom>
        </p:spPr>
      </p:pic>
      <p:sp>
        <p:nvSpPr>
          <p:cNvPr id="5" name="Title 3">
            <a:extLst>
              <a:ext uri="{FF2B5EF4-FFF2-40B4-BE49-F238E27FC236}">
                <a16:creationId xmlns:a16="http://schemas.microsoft.com/office/drawing/2014/main" id="{0AE68D79-30B1-C9B8-A30F-D3F3C26F05F3}"/>
              </a:ext>
            </a:extLst>
          </p:cNvPr>
          <p:cNvSpPr txBox="1">
            <a:spLocks/>
          </p:cNvSpPr>
          <p:nvPr/>
        </p:nvSpPr>
        <p:spPr>
          <a:xfrm>
            <a:off x="622018" y="370589"/>
            <a:ext cx="8570108" cy="736851"/>
          </a:xfrm>
          <a:prstGeom prst="rect">
            <a:avLst/>
          </a:prstGeom>
        </p:spPr>
        <p:txBody>
          <a:bodyPr vert="horz" lIns="91440" tIns="45720" rIns="91440" bIns="45720" rtlCol="0" anchor="ctr">
            <a:normAutofit fontScale="75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Getting Started with Sequenced Data Types</a:t>
            </a:r>
          </a:p>
        </p:txBody>
      </p:sp>
    </p:spTree>
    <p:extLst>
      <p:ext uri="{BB962C8B-B14F-4D97-AF65-F5344CB8AC3E}">
        <p14:creationId xmlns:p14="http://schemas.microsoft.com/office/powerpoint/2010/main" val="304619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70563-2A0D-328E-3C3A-942C9AC678AC}"/>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0808D261-E3DB-B0A7-25F6-C9FEA0ECA09B}"/>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0238D402-EBA7-BD9C-A122-9DADF4F3BEB6}"/>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1D15E673-7FB6-440F-D3B3-840D1EB62916}"/>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DD12F2DF-5E27-B0D5-F8AC-89F19BC87016}"/>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B22F3404-B7DF-F35C-CC4B-93FC4C543826}"/>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D5F8164D-A0C1-A75D-2ABF-A99C61777D6D}"/>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FF9EE790-040A-23CE-3D16-0D2AD7B7253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AA2F323E-71E5-0DA1-75F1-DC1C9C02FD15}"/>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7FA9C9CD-AA7C-E382-6B39-47FBA5E1DC7C}"/>
              </a:ext>
            </a:extLst>
          </p:cNvPr>
          <p:cNvPicPr>
            <a:picLocks noChangeAspect="1"/>
          </p:cNvPicPr>
          <p:nvPr/>
        </p:nvPicPr>
        <p:blipFill>
          <a:blip r:embed="rId3"/>
          <a:stretch>
            <a:fillRect/>
          </a:stretch>
        </p:blipFill>
        <p:spPr>
          <a:xfrm>
            <a:off x="742253" y="1255247"/>
            <a:ext cx="7952568" cy="5624379"/>
          </a:xfrm>
          <a:prstGeom prst="rect">
            <a:avLst/>
          </a:prstGeom>
        </p:spPr>
      </p:pic>
      <p:sp>
        <p:nvSpPr>
          <p:cNvPr id="5" name="Title 3">
            <a:extLst>
              <a:ext uri="{FF2B5EF4-FFF2-40B4-BE49-F238E27FC236}">
                <a16:creationId xmlns:a16="http://schemas.microsoft.com/office/drawing/2014/main" id="{710E0AFC-24F4-0AEE-E8DF-0F4AE7CD5546}"/>
              </a:ext>
            </a:extLst>
          </p:cNvPr>
          <p:cNvSpPr txBox="1">
            <a:spLocks/>
          </p:cNvSpPr>
          <p:nvPr/>
        </p:nvSpPr>
        <p:spPr>
          <a:xfrm>
            <a:off x="675957" y="370589"/>
            <a:ext cx="8351388" cy="884658"/>
          </a:xfrm>
          <a:prstGeom prst="rect">
            <a:avLst/>
          </a:prstGeom>
        </p:spPr>
        <p:txBody>
          <a:bodyPr vert="horz" lIns="91440" tIns="45720" rIns="91440" bIns="45720" rtlCol="0" anchor="ctr">
            <a:normAutofit fontScale="75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Getting Started with Operations on Strings</a:t>
            </a:r>
          </a:p>
        </p:txBody>
      </p:sp>
    </p:spTree>
    <p:extLst>
      <p:ext uri="{BB962C8B-B14F-4D97-AF65-F5344CB8AC3E}">
        <p14:creationId xmlns:p14="http://schemas.microsoft.com/office/powerpoint/2010/main" val="176206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C3CB7-0CDA-A587-C4B2-71FFF26E8BCB}"/>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742FD46A-7401-9FAF-BC9F-774CF473A9B6}"/>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58CB19FF-2C23-DC87-CBEF-3A1EE96A6E0D}"/>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373CEC32-210B-D151-F04E-73BE5D1E7103}"/>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188C5C6B-D2C3-2073-A9DD-710F42188CA6}"/>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C56F9FA4-AFC9-5C62-73F2-A946B54D2669}"/>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62C2660F-2019-6FD6-AC04-3A714E5EBD3B}"/>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211BF187-F2EE-4A0A-FFB6-D6AFE7447EF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1C2AD83-057F-6679-3968-B39A7D89DE13}"/>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4FA1BF89-6441-7A0D-6679-C8C4CC8DF8AC}"/>
              </a:ext>
            </a:extLst>
          </p:cNvPr>
          <p:cNvPicPr>
            <a:picLocks noChangeAspect="1"/>
          </p:cNvPicPr>
          <p:nvPr/>
        </p:nvPicPr>
        <p:blipFill>
          <a:blip r:embed="rId3"/>
          <a:stretch>
            <a:fillRect/>
          </a:stretch>
        </p:blipFill>
        <p:spPr>
          <a:xfrm>
            <a:off x="806018" y="1221990"/>
            <a:ext cx="7969014" cy="5636010"/>
          </a:xfrm>
          <a:prstGeom prst="rect">
            <a:avLst/>
          </a:prstGeom>
        </p:spPr>
      </p:pic>
      <p:sp>
        <p:nvSpPr>
          <p:cNvPr id="5" name="Title 3">
            <a:extLst>
              <a:ext uri="{FF2B5EF4-FFF2-40B4-BE49-F238E27FC236}">
                <a16:creationId xmlns:a16="http://schemas.microsoft.com/office/drawing/2014/main" id="{979EB1EC-A720-6496-750A-DCC9D7A344A9}"/>
              </a:ext>
            </a:extLst>
          </p:cNvPr>
          <p:cNvSpPr txBox="1">
            <a:spLocks/>
          </p:cNvSpPr>
          <p:nvPr/>
        </p:nvSpPr>
        <p:spPr>
          <a:xfrm>
            <a:off x="675957" y="370589"/>
            <a:ext cx="8351388" cy="884658"/>
          </a:xfrm>
          <a:prstGeom prst="rect">
            <a:avLst/>
          </a:prstGeom>
        </p:spPr>
        <p:txBody>
          <a:bodyPr vert="horz" lIns="91440" tIns="45720" rIns="91440" bIns="45720" rtlCol="0" anchor="ctr">
            <a:normAutofit fontScale="90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Building Blocks Of Python</a:t>
            </a:r>
          </a:p>
        </p:txBody>
      </p:sp>
    </p:spTree>
    <p:extLst>
      <p:ext uri="{BB962C8B-B14F-4D97-AF65-F5344CB8AC3E}">
        <p14:creationId xmlns:p14="http://schemas.microsoft.com/office/powerpoint/2010/main" val="400307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BB431-0343-C3EA-97B5-0AD5DEE36E97}"/>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BE80E487-9632-E8EA-6FDF-01DAD1A5A33B}"/>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392B0C11-8A4B-1606-0F1C-E7B5F5339132}"/>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C6783087-BCDF-BBE6-3F2D-06585146E964}"/>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0EA76AC1-A05B-4014-0A85-48DB8AA66D19}"/>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B9229CB6-AB68-5DD0-1ED9-35FE1DAD7846}"/>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4B3E369F-DE53-A0CC-C18B-D263C7B54B96}"/>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E1DD2785-9EE0-BC8F-2460-EB8C367DC58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0CC15AED-751B-A730-1461-EABA7AD8840A}"/>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745AF5E1-52BB-A9A2-0E16-6A34AD10B0B4}"/>
              </a:ext>
            </a:extLst>
          </p:cNvPr>
          <p:cNvPicPr>
            <a:picLocks noChangeAspect="1"/>
          </p:cNvPicPr>
          <p:nvPr/>
        </p:nvPicPr>
        <p:blipFill>
          <a:blip r:embed="rId3"/>
          <a:stretch>
            <a:fillRect/>
          </a:stretch>
        </p:blipFill>
        <p:spPr>
          <a:xfrm>
            <a:off x="675957" y="1215098"/>
            <a:ext cx="7978759" cy="5642901"/>
          </a:xfrm>
          <a:prstGeom prst="rect">
            <a:avLst/>
          </a:prstGeom>
        </p:spPr>
      </p:pic>
      <p:sp>
        <p:nvSpPr>
          <p:cNvPr id="5" name="Title 3">
            <a:extLst>
              <a:ext uri="{FF2B5EF4-FFF2-40B4-BE49-F238E27FC236}">
                <a16:creationId xmlns:a16="http://schemas.microsoft.com/office/drawing/2014/main" id="{548AD0C8-69DF-AB50-CF96-F9846FE74E54}"/>
              </a:ext>
            </a:extLst>
          </p:cNvPr>
          <p:cNvSpPr txBox="1">
            <a:spLocks/>
          </p:cNvSpPr>
          <p:nvPr/>
        </p:nvSpPr>
        <p:spPr>
          <a:xfrm>
            <a:off x="675957" y="370589"/>
            <a:ext cx="8351388" cy="884658"/>
          </a:xfrm>
          <a:prstGeom prst="rect">
            <a:avLst/>
          </a:prstGeom>
        </p:spPr>
        <p:txBody>
          <a:bodyPr vert="horz" lIns="91440" tIns="45720" rIns="91440" bIns="45720" rtlCol="0" anchor="ctr">
            <a:normAutofit fontScale="825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Getting Started with Basics of Python </a:t>
            </a:r>
          </a:p>
        </p:txBody>
      </p:sp>
    </p:spTree>
    <p:extLst>
      <p:ext uri="{BB962C8B-B14F-4D97-AF65-F5344CB8AC3E}">
        <p14:creationId xmlns:p14="http://schemas.microsoft.com/office/powerpoint/2010/main" val="1874482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CADDD-AD2B-17E4-A803-2B3D15F3A48A}"/>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1C993E36-E6B4-BDE4-27EB-2837B5C5A070}"/>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635C9DD0-7FC4-611C-6D93-6F7A1E1E6696}"/>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4D7C7496-5489-6271-D1A8-2398D18018A9}"/>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22FC10F2-AA4D-8AC7-A6D4-C2C87492567F}"/>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E541F026-C7CF-523D-5050-F6285D8D2433}"/>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C830EC0-442F-7DE9-9F52-403D34BF6975}"/>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9F31C84D-236B-C869-022C-F1576A0E417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0B2F2799-AA91-198B-CFCD-F0AED38772A9}"/>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500A42A8-7D2D-088F-1B80-C94CFC5317AA}"/>
              </a:ext>
            </a:extLst>
          </p:cNvPr>
          <p:cNvPicPr>
            <a:picLocks noChangeAspect="1"/>
          </p:cNvPicPr>
          <p:nvPr/>
        </p:nvPicPr>
        <p:blipFill>
          <a:blip r:embed="rId3"/>
          <a:stretch>
            <a:fillRect/>
          </a:stretch>
        </p:blipFill>
        <p:spPr>
          <a:xfrm>
            <a:off x="736062" y="1255246"/>
            <a:ext cx="7921991" cy="5602753"/>
          </a:xfrm>
          <a:prstGeom prst="rect">
            <a:avLst/>
          </a:prstGeom>
        </p:spPr>
      </p:pic>
      <p:sp>
        <p:nvSpPr>
          <p:cNvPr id="5" name="Title 3">
            <a:extLst>
              <a:ext uri="{FF2B5EF4-FFF2-40B4-BE49-F238E27FC236}">
                <a16:creationId xmlns:a16="http://schemas.microsoft.com/office/drawing/2014/main" id="{3709CF7C-5C53-4F31-F14D-AA00EE030758}"/>
              </a:ext>
            </a:extLst>
          </p:cNvPr>
          <p:cNvSpPr txBox="1">
            <a:spLocks/>
          </p:cNvSpPr>
          <p:nvPr/>
        </p:nvSpPr>
        <p:spPr>
          <a:xfrm>
            <a:off x="675957" y="370589"/>
            <a:ext cx="8351388" cy="884658"/>
          </a:xfrm>
          <a:prstGeom prst="rect">
            <a:avLst/>
          </a:prstGeom>
        </p:spPr>
        <p:txBody>
          <a:bodyPr vert="horz" lIns="91440" tIns="45720" rIns="91440" bIns="45720" rtlCol="0" anchor="ctr">
            <a:normAutofit fontScale="60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Getting Started with Python Environment Installations</a:t>
            </a:r>
          </a:p>
        </p:txBody>
      </p:sp>
    </p:spTree>
    <p:extLst>
      <p:ext uri="{BB962C8B-B14F-4D97-AF65-F5344CB8AC3E}">
        <p14:creationId xmlns:p14="http://schemas.microsoft.com/office/powerpoint/2010/main" val="118708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D8100-21B2-A7FB-C1F0-9C0A1CB1AB2C}"/>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4F6F16C4-1F61-48DD-97F8-AEB135D865CC}"/>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7C903D29-9A8B-F3AC-8099-36F7E793F27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7B144184-34AB-A0FF-A451-D9539E04123B}"/>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D89ED8DD-643A-F429-D93B-14A9A4936830}"/>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F5E8B2BB-9178-52FD-C841-DE82F84F370D}"/>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84F00613-BF0B-0FFB-F02C-E4A35758C5E2}"/>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C5F8410A-174A-84B4-2327-42061644C63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E2F50729-B8BC-9115-CB81-016B467205BB}"/>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A8BF1F17-D168-5049-C3EA-C009F03F0770}"/>
              </a:ext>
            </a:extLst>
          </p:cNvPr>
          <p:cNvPicPr>
            <a:picLocks noChangeAspect="1"/>
          </p:cNvPicPr>
          <p:nvPr/>
        </p:nvPicPr>
        <p:blipFill>
          <a:blip r:embed="rId3"/>
          <a:stretch>
            <a:fillRect/>
          </a:stretch>
        </p:blipFill>
        <p:spPr>
          <a:xfrm>
            <a:off x="763072" y="1255246"/>
            <a:ext cx="7968167" cy="5635411"/>
          </a:xfrm>
          <a:prstGeom prst="rect">
            <a:avLst/>
          </a:prstGeom>
        </p:spPr>
      </p:pic>
      <p:sp>
        <p:nvSpPr>
          <p:cNvPr id="5" name="Title 3">
            <a:extLst>
              <a:ext uri="{FF2B5EF4-FFF2-40B4-BE49-F238E27FC236}">
                <a16:creationId xmlns:a16="http://schemas.microsoft.com/office/drawing/2014/main" id="{EB5CDC1A-13A5-C771-92C3-35F6D8FD6718}"/>
              </a:ext>
            </a:extLst>
          </p:cNvPr>
          <p:cNvSpPr txBox="1">
            <a:spLocks/>
          </p:cNvSpPr>
          <p:nvPr/>
        </p:nvSpPr>
        <p:spPr>
          <a:xfrm>
            <a:off x="675957" y="370589"/>
            <a:ext cx="8351388" cy="884658"/>
          </a:xfrm>
          <a:prstGeom prst="rect">
            <a:avLst/>
          </a:prstGeom>
        </p:spPr>
        <p:txBody>
          <a:bodyPr vert="horz" lIns="91440" tIns="45720" rIns="91440" bIns="45720" rtlCol="0" anchor="ctr">
            <a:normAutofit fontScale="90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Basics of Linux Operating Systems </a:t>
            </a:r>
          </a:p>
        </p:txBody>
      </p:sp>
    </p:spTree>
    <p:extLst>
      <p:ext uri="{BB962C8B-B14F-4D97-AF65-F5344CB8AC3E}">
        <p14:creationId xmlns:p14="http://schemas.microsoft.com/office/powerpoint/2010/main" val="333385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D0F14-1377-FA96-9AB7-0BE3E4BAA430}"/>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B4CB88B3-F4F6-BCD5-16D1-87DF0AD6EFCA}"/>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9216753D-D657-BC67-6701-DCFFB9B37391}"/>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BE91DCC8-AB56-36DC-F431-B23FC1E8C382}"/>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0C7756B1-85F2-CA44-E45A-AD7626910DF4}"/>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C8D4665E-D90E-91EE-D714-CCC186334C3B}"/>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C9E3E085-CB8D-CBE8-4D3E-41244E5ED2F7}"/>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0B5F9812-2B65-E19D-AEA9-1E2D50870ED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28C3249E-E474-ECDB-494A-82CAB994177B}"/>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634A467E-CACA-B4AB-CBE3-52F5D4F2CCCD}"/>
              </a:ext>
            </a:extLst>
          </p:cNvPr>
          <p:cNvPicPr>
            <a:picLocks noChangeAspect="1"/>
          </p:cNvPicPr>
          <p:nvPr/>
        </p:nvPicPr>
        <p:blipFill>
          <a:blip r:embed="rId3"/>
          <a:stretch>
            <a:fillRect/>
          </a:stretch>
        </p:blipFill>
        <p:spPr>
          <a:xfrm>
            <a:off x="675958" y="1264812"/>
            <a:ext cx="7915406" cy="5598096"/>
          </a:xfrm>
          <a:prstGeom prst="rect">
            <a:avLst/>
          </a:prstGeom>
        </p:spPr>
      </p:pic>
      <p:sp>
        <p:nvSpPr>
          <p:cNvPr id="5" name="Title 3">
            <a:extLst>
              <a:ext uri="{FF2B5EF4-FFF2-40B4-BE49-F238E27FC236}">
                <a16:creationId xmlns:a16="http://schemas.microsoft.com/office/drawing/2014/main" id="{9718B920-C5DF-DF02-CF12-B311B73CF461}"/>
              </a:ext>
            </a:extLst>
          </p:cNvPr>
          <p:cNvSpPr txBox="1">
            <a:spLocks/>
          </p:cNvSpPr>
          <p:nvPr/>
        </p:nvSpPr>
        <p:spPr>
          <a:xfrm>
            <a:off x="675957" y="370589"/>
            <a:ext cx="8351388" cy="884658"/>
          </a:xfrm>
          <a:prstGeom prst="rect">
            <a:avLst/>
          </a:prstGeom>
        </p:spPr>
        <p:txBody>
          <a:bodyPr vert="horz" lIns="91440" tIns="45720" rIns="91440" bIns="45720" rtlCol="0" anchor="ctr">
            <a:normAutofit fontScale="825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Getting Started with Linux File System</a:t>
            </a:r>
          </a:p>
        </p:txBody>
      </p:sp>
    </p:spTree>
    <p:extLst>
      <p:ext uri="{BB962C8B-B14F-4D97-AF65-F5344CB8AC3E}">
        <p14:creationId xmlns:p14="http://schemas.microsoft.com/office/powerpoint/2010/main" val="388141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8DE44-59C7-C572-7489-43026BA8506E}"/>
            </a:ext>
          </a:extLst>
        </p:cNvPr>
        <p:cNvGrpSpPr/>
        <p:nvPr/>
      </p:nvGrpSpPr>
      <p:grpSpPr>
        <a:xfrm>
          <a:off x="0" y="0"/>
          <a:ext cx="0" cy="0"/>
          <a:chOff x="0" y="0"/>
          <a:chExt cx="0" cy="0"/>
        </a:xfrm>
      </p:grpSpPr>
      <p:sp>
        <p:nvSpPr>
          <p:cNvPr id="31" name="Text Placeholder 30">
            <a:extLst>
              <a:ext uri="{FF2B5EF4-FFF2-40B4-BE49-F238E27FC236}">
                <a16:creationId xmlns:a16="http://schemas.microsoft.com/office/drawing/2014/main" id="{786733E3-44CA-F588-E10D-CE0227C2E2D6}"/>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B19C468D-4C40-6029-A03C-3BB904A930C8}"/>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33A04373-7350-B3C6-4F2B-B15BDDE98BD8}"/>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EE5FC65B-C10F-A299-14B8-FC878FF7F5CA}"/>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B048120A-F4B6-6791-9FB9-E3D226D0CB71}"/>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F13BF-06B9-F843-5F8D-593BDD3777D3}"/>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6719B6FB-92B9-6180-2B0F-E74A432F24D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753538B8-55DC-991E-CF7C-246F4B77269D}"/>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7799F9CC-9922-71E9-807F-5F64A65BFE2B}"/>
              </a:ext>
            </a:extLst>
          </p:cNvPr>
          <p:cNvPicPr>
            <a:picLocks noChangeAspect="1"/>
          </p:cNvPicPr>
          <p:nvPr/>
        </p:nvPicPr>
        <p:blipFill>
          <a:blip r:embed="rId3"/>
          <a:stretch>
            <a:fillRect/>
          </a:stretch>
        </p:blipFill>
        <p:spPr>
          <a:xfrm>
            <a:off x="725176" y="1229610"/>
            <a:ext cx="8218298" cy="5812314"/>
          </a:xfrm>
          <a:prstGeom prst="rect">
            <a:avLst/>
          </a:prstGeom>
        </p:spPr>
      </p:pic>
      <p:sp>
        <p:nvSpPr>
          <p:cNvPr id="5" name="Title 3">
            <a:extLst>
              <a:ext uri="{FF2B5EF4-FFF2-40B4-BE49-F238E27FC236}">
                <a16:creationId xmlns:a16="http://schemas.microsoft.com/office/drawing/2014/main" id="{2AC27E0B-6D14-6589-3CFF-918DA22BA828}"/>
              </a:ext>
            </a:extLst>
          </p:cNvPr>
          <p:cNvSpPr txBox="1">
            <a:spLocks/>
          </p:cNvSpPr>
          <p:nvPr/>
        </p:nvSpPr>
        <p:spPr>
          <a:xfrm>
            <a:off x="675957" y="370589"/>
            <a:ext cx="8351388" cy="884658"/>
          </a:xfrm>
          <a:prstGeom prst="rect">
            <a:avLst/>
          </a:prstGeom>
        </p:spPr>
        <p:txBody>
          <a:bodyPr vert="horz" lIns="91440" tIns="45720" rIns="91440" bIns="45720" rtlCol="0" anchor="ctr">
            <a:normAutofit fontScale="90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solidFill>
                  <a:schemeClr val="tx1"/>
                </a:solidFill>
              </a:rPr>
              <a:t>VOIS Course completion certificate - </a:t>
            </a:r>
            <a:br>
              <a:rPr lang="en-IN" sz="3200" dirty="0">
                <a:solidFill>
                  <a:schemeClr val="tx1"/>
                </a:solidFill>
              </a:rPr>
            </a:br>
            <a:r>
              <a:rPr lang="en-IN" sz="3200" dirty="0">
                <a:solidFill>
                  <a:schemeClr val="tx1"/>
                </a:solidFill>
              </a:rPr>
              <a:t>Course name- Linux System Utilities </a:t>
            </a:r>
          </a:p>
        </p:txBody>
      </p:sp>
    </p:spTree>
    <p:extLst>
      <p:ext uri="{BB962C8B-B14F-4D97-AF65-F5344CB8AC3E}">
        <p14:creationId xmlns:p14="http://schemas.microsoft.com/office/powerpoint/2010/main" val="5308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15778-BA5A-30B4-E662-235482A20544}"/>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1E73726-B466-DE95-B96E-3512343625C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D4E560C9-1354-4B98-B677-D8F3D5AA1690}"/>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7B6F6703-4792-6BA2-698A-58D41A142319}"/>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853D897-BC5F-8654-2F14-2359995C16C2}"/>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BC897C03-F70E-61F4-2A01-7F70ECDB4780}"/>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6331C252-A1D9-4199-745A-6CEC76ED5DB5}"/>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7D2A139F-204C-0EA4-58A7-B98D6AD94C89}"/>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1E65BA45-C34D-1581-F2A9-4F4855E25D8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2145080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1542</TotalTime>
  <Words>920</Words>
  <Application>Microsoft Office PowerPoint</Application>
  <PresentationFormat>Widescreen</PresentationFormat>
  <Paragraphs>127</Paragraphs>
  <Slides>34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Arial Black</vt:lpstr>
      <vt:lpstr>Calibri</vt:lpstr>
      <vt:lpstr>Trebuchet MS</vt:lpstr>
      <vt:lpstr>Wingdings</vt:lpstr>
      <vt:lpstr>Wingdings 3</vt:lpstr>
      <vt:lpstr>Facet</vt:lpstr>
      <vt:lpstr>Project Title : Seasonal Agriculture Performance Analysis Student : Aarush Singh College : G H Raisoni International Skill Tech University AICTE STU ID : STU6736c7458b0c11731643205</vt:lpstr>
      <vt:lpstr>PROBLEM  STATEMENT</vt:lpstr>
      <vt:lpstr>Project Description This project performs an exploratory and statistical analysis of agricultural performance using a dataset containing 4,000 records and 28 variables. The analysis examines crops, seasons, locations, environmental conditions, agricultural inputs, irrigation methods, production, yield, revenue, cost, profit, water usage and disease/pest risk. Data cleaning, descriptive statistics, univariate, bivariate and multivariate analysis, outlier detection, correlation analysis and seasonal comparisons are performed to identify important patterns. The project also includes student-designed analyses to evaluate crop performance, irrigation efficiency, profitability and seasonal risk.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Key Insights  1. Kharif records the highest average yield in the dataset.  2. Agricultural performance varies significantly across seasons.  3. Crop performance differs across seasonal conditions.  4. Sugarcane shows the highest average yield in the analyzed dataset.  5. Crop profitability varies considerably.  6. Irrigation methods show differences in yield and water efficiency.  7. Yield has strong relationships with production and resource-efficiency variables.  8. Disease/pest risk differs across seasons and should be considered during planning.</vt:lpstr>
      <vt:lpstr>Future scope</vt:lpstr>
      <vt:lpstr>GitHub Link</vt:lpstr>
      <vt:lpstr>VOIS Course completion certificate -  Course name- Data Visualization </vt:lpstr>
      <vt:lpstr>VOIS Course completion certificate -  Course name- Data Analysis Using NumPy</vt:lpstr>
      <vt:lpstr>VOIS Course completion certificate -  Course name- Data Visualization </vt:lpstr>
      <vt:lpstr>VOIS Course completion certificate -  Course name- Permission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Aarush Singh</cp:lastModifiedBy>
  <cp:revision>100</cp:revision>
  <dcterms:created xsi:type="dcterms:W3CDTF">2021-07-11T13:13:15Z</dcterms:created>
  <dcterms:modified xsi:type="dcterms:W3CDTF">2026-09-10T12:22:36Z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